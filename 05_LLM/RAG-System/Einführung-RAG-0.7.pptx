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ppt/theme/themeOverride9.xml" ContentType="application/vnd.openxmlformats-officedocument.themeOverride+xml"/>
  <Override PartName="/ppt/theme/themeOverride10.xml" ContentType="application/vnd.openxmlformats-officedocument.themeOverride+xml"/>
  <Override PartName="/ppt/theme/themeOverride11.xml" ContentType="application/vnd.openxmlformats-officedocument.themeOverride+xml"/>
  <Override PartName="/ppt/theme/themeOverride12.xml" ContentType="application/vnd.openxmlformats-officedocument.themeOverride+xml"/>
  <Override PartName="/ppt/theme/themeOverride13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8" r:id="rId2"/>
    <p:sldId id="280" r:id="rId3"/>
    <p:sldId id="281" r:id="rId4"/>
    <p:sldId id="279" r:id="rId5"/>
    <p:sldId id="285" r:id="rId6"/>
    <p:sldId id="287" r:id="rId7"/>
    <p:sldId id="289" r:id="rId8"/>
    <p:sldId id="290" r:id="rId9"/>
    <p:sldId id="291" r:id="rId10"/>
    <p:sldId id="283" r:id="rId11"/>
    <p:sldId id="286" r:id="rId12"/>
    <p:sldId id="284" r:id="rId13"/>
    <p:sldId id="282" r:id="rId14"/>
    <p:sldId id="288" r:id="rId15"/>
  </p:sldIdLst>
  <p:sldSz cx="9144000" cy="6858000" type="screen4x3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7C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532" autoAdjust="0"/>
    <p:restoredTop sz="94660"/>
  </p:normalViewPr>
  <p:slideViewPr>
    <p:cSldViewPr snapToGrid="0">
      <p:cViewPr varScale="1">
        <p:scale>
          <a:sx n="58" d="100"/>
          <a:sy n="58" d="100"/>
        </p:scale>
        <p:origin x="103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A02564-33EE-C664-F10D-6F48186FE4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F11824D9-388B-DD64-4A4A-9DC4A4192B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CAEA968-9CEE-7C4F-6A45-BA82BC2E2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86ADE-2DB8-45E8-8E80-D2CC5C6B0A5E}" type="datetimeFigureOut">
              <a:rPr lang="de-DE" smtClean="0"/>
              <a:t>29.11.2025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E967D3F-AAF7-94B4-AA3F-FF00073F1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6F9ACB9-284A-64A8-92D1-0F3DFBF8C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6439A-8240-4364-BDC0-1F556AC2219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395010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8099269-505C-28A2-402A-84CB42A57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25AA7B7-7D44-818C-A3CE-2DB2BF97E0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9881B74-EF82-2516-D481-CE0546055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86ADE-2DB8-45E8-8E80-D2CC5C6B0A5E}" type="datetimeFigureOut">
              <a:rPr lang="de-DE" smtClean="0"/>
              <a:t>29.11.2025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D130307-471E-D53F-A45A-278CF91FF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B284F1B-C320-7C0F-D2C0-7E94BBFC3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6439A-8240-4364-BDC0-1F556AC2219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601030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45F6AFA-78E5-1E24-7FFA-3F59F422AA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545A704-0201-18AD-3071-907A48ED5C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973DFFC-38B1-B10D-04FB-AE42F5A2B8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86ADE-2DB8-45E8-8E80-D2CC5C6B0A5E}" type="datetimeFigureOut">
              <a:rPr lang="de-DE" smtClean="0"/>
              <a:t>29.11.2025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3252107-7078-9DEA-7295-6D26A60025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5085D60-0028-5453-95FB-6BB24295D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6439A-8240-4364-BDC0-1F556AC2219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735707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0EBD147-4FA5-1130-4C1B-C4634C8D2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B40FA12-9D1B-E59B-4E44-1AED6C0108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88E348D2-8F95-EB74-4AB6-97AEDB7722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FD3EF16-EFCF-FF65-891F-7600E6F74B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86ADE-2DB8-45E8-8E80-D2CC5C6B0A5E}" type="datetimeFigureOut">
              <a:rPr lang="de-DE" smtClean="0"/>
              <a:t>29.11.2025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56CD355-EB65-C71A-2BA0-9A811628B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9A2E03F-417B-7F41-1245-A265F1398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6439A-8240-4364-BDC0-1F556AC2219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09257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3DE9554-422F-E986-4E7C-6781D05337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EFFA92D-79C6-CA87-21C2-43A6BDB20E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1EB4733-196F-2811-FBF5-551ED2CE12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B4CD50AD-61B5-55AA-EB9A-B26DEF0BDF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983896FB-F5D5-5482-A1E5-9CB022A0B3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9B3F5E72-5A5B-4391-6504-214F680079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86ADE-2DB8-45E8-8E80-D2CC5C6B0A5E}" type="datetimeFigureOut">
              <a:rPr lang="de-DE" smtClean="0"/>
              <a:t>29.11.2025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A1EAFAA8-77E0-4C0C-16F5-CAB4876B4A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8996DECF-49FB-B8B4-C535-572E286C3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6439A-8240-4364-BDC0-1F556AC2219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503816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5712864-60D6-DC41-8E7A-E13AC156C9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BB44144F-3213-3EE2-F3DC-3C25DB401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86ADE-2DB8-45E8-8E80-D2CC5C6B0A5E}" type="datetimeFigureOut">
              <a:rPr lang="de-DE" smtClean="0"/>
              <a:t>29.11.2025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0E9DEF4-662C-74DB-F480-F9D0CBD97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C5EA949-1FE3-1D37-CFE5-9C17BC3C2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6439A-8240-4364-BDC0-1F556AC2219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056417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6EEEAD7C-52AE-8091-9C4C-F4A9FB8B9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86ADE-2DB8-45E8-8E80-D2CC5C6B0A5E}" type="datetimeFigureOut">
              <a:rPr lang="de-DE" smtClean="0"/>
              <a:t>29.11.2025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AF57C9E-BB97-83A6-525A-27F725913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975676A-C8AB-0844-5AE6-F7E70CC0B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6439A-8240-4364-BDC0-1F556AC2219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840177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B0E1737-85A0-0AD1-9114-70F443A0E2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49D8C26-1A6F-007E-9EA6-84FEDFCBC2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576F437-2EA1-2D4A-7DD3-607A0233C7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D835E38-6431-CEC1-7B0F-529F3D6C12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86ADE-2DB8-45E8-8E80-D2CC5C6B0A5E}" type="datetimeFigureOut">
              <a:rPr lang="de-DE" smtClean="0"/>
              <a:t>29.11.2025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31DE8F4-ED13-8CAF-CB63-13567E9730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17B8024-F3B2-719B-207C-F14955EE3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6439A-8240-4364-BDC0-1F556AC2219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963127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73A642E-2F61-36A6-B768-219186095D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1082D37A-BAB9-5472-92E0-B44865C66B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C8DEDC1-1E1F-604F-98E3-D1F18F28E9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A14FB30-431F-D83C-D382-F12071BD10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86ADE-2DB8-45E8-8E80-D2CC5C6B0A5E}" type="datetimeFigureOut">
              <a:rPr lang="de-DE" smtClean="0"/>
              <a:t>29.11.2025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B3EF883-0735-4562-8D6F-6B9306889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D9CD03B-AA3E-61A7-2D49-9D6B1368E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6439A-8240-4364-BDC0-1F556AC2219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929036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479B733-023F-301B-F830-67EE8F48FF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659A345D-2210-3090-B9B3-944FF19C32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8B7D423-AC5A-CC0C-F58B-23237DE27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86ADE-2DB8-45E8-8E80-D2CC5C6B0A5E}" type="datetimeFigureOut">
              <a:rPr lang="de-DE" smtClean="0"/>
              <a:t>29.11.2025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CAED719-A7FC-ADA7-CFEA-421AE57238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0DE0325-037B-A1DC-5A0F-BD5CC2180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6439A-8240-4364-BDC0-1F556AC2219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119834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6F0E3A5C-0B3A-D4E3-32CD-6CCBEE16FB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E56BB94C-2BF9-067F-ACE7-17206CD845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736FFF6-50A8-81B6-FA2B-160FBD92E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86ADE-2DB8-45E8-8E80-D2CC5C6B0A5E}" type="datetimeFigureOut">
              <a:rPr lang="de-DE" smtClean="0"/>
              <a:t>29.11.2025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092FDDA-EF28-FD6E-60E4-13139B5D4F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0FC5F72-C4FC-2826-769F-58EF0B156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6439A-8240-4364-BDC0-1F556AC2219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978931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4CFC80D6-C574-3DD9-E04F-396A1EDB37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EC9011A-F8A3-C04B-CA54-5349BF503C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7367050-AF65-83D3-3D97-DEF808A4FA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686ADE-2DB8-45E8-8E80-D2CC5C6B0A5E}" type="datetimeFigureOut">
              <a:rPr lang="de-DE" smtClean="0"/>
              <a:t>29.11.2025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473691A-A77D-AF80-5B0F-AF8C247CAC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5E22B42-8797-D92F-3DEB-E37360AD71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C6439A-8240-4364-BDC0-1F556AC2219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002676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6">
                <a:lumMod val="5000"/>
                <a:lumOff val="95000"/>
              </a:schemeClr>
            </a:gs>
            <a:gs pos="74000">
              <a:schemeClr val="accent6">
                <a:lumMod val="45000"/>
                <a:lumOff val="55000"/>
              </a:schemeClr>
            </a:gs>
            <a:gs pos="83000">
              <a:schemeClr val="accent6">
                <a:lumMod val="45000"/>
                <a:lumOff val="55000"/>
              </a:schemeClr>
            </a:gs>
            <a:gs pos="100000">
              <a:schemeClr val="accent6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1031E19-7B89-1F29-7878-B7D1CB414C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Was sind </a:t>
            </a:r>
            <a:r>
              <a:rPr lang="de-DE" dirty="0" err="1"/>
              <a:t>Embeddings</a:t>
            </a:r>
            <a:r>
              <a:rPr lang="de-DE" dirty="0"/>
              <a:t>?</a:t>
            </a:r>
          </a:p>
        </p:txBody>
      </p:sp>
      <p:sp>
        <p:nvSpPr>
          <p:cNvPr id="42" name="Inhaltsplatzhalter 2">
            <a:extLst>
              <a:ext uri="{FF2B5EF4-FFF2-40B4-BE49-F238E27FC236}">
                <a16:creationId xmlns:a16="http://schemas.microsoft.com/office/drawing/2014/main" id="{DBF381D7-96E6-E470-B934-BE0654A276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6764" y="2125302"/>
            <a:ext cx="8410471" cy="3514778"/>
          </a:xfrm>
        </p:spPr>
        <p:txBody>
          <a:bodyPr>
            <a:normAutofit fontScale="92500" lnSpcReduction="10000"/>
          </a:bodyPr>
          <a:lstStyle/>
          <a:p>
            <a:r>
              <a:rPr lang="de-DE" dirty="0"/>
              <a:t>sind hochdimensionale Vektoren/Pfeile</a:t>
            </a:r>
          </a:p>
          <a:p>
            <a:endParaRPr lang="de-DE" dirty="0"/>
          </a:p>
          <a:p>
            <a:r>
              <a:rPr lang="de-DE" dirty="0"/>
              <a:t>beschreiben die Bedeutung </a:t>
            </a:r>
          </a:p>
          <a:p>
            <a:pPr lvl="1"/>
            <a:r>
              <a:rPr lang="de-DE" dirty="0"/>
              <a:t>eines Wortes, </a:t>
            </a:r>
          </a:p>
          <a:p>
            <a:pPr lvl="1"/>
            <a:r>
              <a:rPr lang="de-DE" dirty="0"/>
              <a:t>eines Satzes, </a:t>
            </a:r>
          </a:p>
          <a:p>
            <a:pPr lvl="1"/>
            <a:r>
              <a:rPr lang="de-DE" dirty="0"/>
              <a:t>eines Absatzes, </a:t>
            </a:r>
          </a:p>
          <a:p>
            <a:pPr lvl="1"/>
            <a:r>
              <a:rPr lang="de-DE" dirty="0"/>
              <a:t>..</a:t>
            </a:r>
          </a:p>
          <a:p>
            <a:endParaRPr lang="de-DE" dirty="0"/>
          </a:p>
          <a:p>
            <a:r>
              <a:rPr lang="de-DE" dirty="0"/>
              <a:t>Pfeil-Richtung  = Bedeutung</a:t>
            </a:r>
          </a:p>
          <a:p>
            <a:pPr marL="457200" lvl="1" indent="0">
              <a:buNone/>
            </a:pPr>
            <a:endParaRPr lang="de-DE" dirty="0"/>
          </a:p>
          <a:p>
            <a:pPr marL="457200" lvl="1" indent="0">
              <a:buNone/>
            </a:pPr>
            <a:endParaRPr lang="de-DE" sz="1200" dirty="0"/>
          </a:p>
        </p:txBody>
      </p:sp>
    </p:spTree>
    <p:extLst>
      <p:ext uri="{BB962C8B-B14F-4D97-AF65-F5344CB8AC3E}">
        <p14:creationId xmlns:p14="http://schemas.microsoft.com/office/powerpoint/2010/main" val="8510628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uiExpand="1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6">
                <a:lumMod val="5000"/>
                <a:lumOff val="95000"/>
              </a:schemeClr>
            </a:gs>
            <a:gs pos="74000">
              <a:schemeClr val="accent6">
                <a:lumMod val="45000"/>
                <a:lumOff val="55000"/>
              </a:schemeClr>
            </a:gs>
            <a:gs pos="83000">
              <a:schemeClr val="accent6">
                <a:lumMod val="45000"/>
                <a:lumOff val="55000"/>
              </a:schemeClr>
            </a:gs>
            <a:gs pos="100000">
              <a:schemeClr val="accent6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Textfeld 98"/>
          <p:cNvSpPr txBox="1"/>
          <p:nvPr/>
        </p:nvSpPr>
        <p:spPr>
          <a:xfrm>
            <a:off x="5198852" y="1550020"/>
            <a:ext cx="3589548" cy="492698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txBody>
          <a:bodyPr wrap="square" rtlCol="0" anchor="t" anchorCtr="0">
            <a:noAutofit/>
          </a:bodyPr>
          <a:lstStyle/>
          <a:p>
            <a:pPr algn="ctr"/>
            <a:endParaRPr lang="en-US" sz="140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1031E19-7B89-1F29-7878-B7D1CB414C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Was ist ein Vektor?</a:t>
            </a:r>
          </a:p>
        </p:txBody>
      </p:sp>
      <p:cxnSp>
        <p:nvCxnSpPr>
          <p:cNvPr id="87" name="Gerade Verbindung mit Pfeil 86"/>
          <p:cNvCxnSpPr/>
          <p:nvPr/>
        </p:nvCxnSpPr>
        <p:spPr>
          <a:xfrm>
            <a:off x="7353222" y="2817224"/>
            <a:ext cx="720000" cy="1440000"/>
          </a:xfrm>
          <a:prstGeom prst="straightConnector1">
            <a:avLst/>
          </a:prstGeom>
          <a:ln w="25400">
            <a:solidFill>
              <a:schemeClr val="tx1"/>
            </a:solidFill>
            <a:prstDash val="sysDash"/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Runde Klammer links/rechts 87"/>
          <p:cNvSpPr/>
          <p:nvPr/>
        </p:nvSpPr>
        <p:spPr>
          <a:xfrm>
            <a:off x="6112320" y="4309539"/>
            <a:ext cx="477769" cy="585407"/>
          </a:xfrm>
          <a:prstGeom prst="bracketPair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DE" sz="1600" dirty="0"/>
              <a:t>2</a:t>
            </a:r>
          </a:p>
          <a:p>
            <a:pPr algn="ctr"/>
            <a:r>
              <a:rPr lang="de-DE" sz="1600" dirty="0"/>
              <a:t>-4</a:t>
            </a:r>
          </a:p>
        </p:txBody>
      </p:sp>
      <p:sp>
        <p:nvSpPr>
          <p:cNvPr id="93" name="Textfeld 92"/>
          <p:cNvSpPr txBox="1"/>
          <p:nvPr/>
        </p:nvSpPr>
        <p:spPr>
          <a:xfrm>
            <a:off x="5057750" y="5663235"/>
            <a:ext cx="2281561" cy="516006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r>
              <a:rPr lang="de-DE" sz="1400" dirty="0" err="1"/>
              <a:t>2dimensionaler</a:t>
            </a:r>
            <a:endParaRPr lang="de-DE" sz="1400" dirty="0"/>
          </a:p>
          <a:p>
            <a:pPr algn="ctr"/>
            <a:r>
              <a:rPr lang="de-DE" sz="1400" dirty="0"/>
              <a:t>Vektor</a:t>
            </a:r>
          </a:p>
        </p:txBody>
      </p:sp>
      <p:cxnSp>
        <p:nvCxnSpPr>
          <p:cNvPr id="95" name="Gerader Verbinder 94"/>
          <p:cNvCxnSpPr>
            <a:stCxn id="93" idx="0"/>
            <a:endCxn id="88" idx="2"/>
          </p:cNvCxnSpPr>
          <p:nvPr/>
        </p:nvCxnSpPr>
        <p:spPr>
          <a:xfrm flipV="1">
            <a:off x="6198531" y="4894946"/>
            <a:ext cx="152674" cy="7682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Inhaltsplatzhalter 2">
            <a:extLst>
              <a:ext uri="{FF2B5EF4-FFF2-40B4-BE49-F238E27FC236}">
                <a16:creationId xmlns:a16="http://schemas.microsoft.com/office/drawing/2014/main" id="{DBF381D7-96E6-E470-B934-BE0654A276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28" y="2056355"/>
            <a:ext cx="4846632" cy="3791404"/>
          </a:xfrm>
        </p:spPr>
        <p:txBody>
          <a:bodyPr>
            <a:normAutofit/>
          </a:bodyPr>
          <a:lstStyle/>
          <a:p>
            <a:r>
              <a:rPr lang="de-DE" dirty="0"/>
              <a:t>Pfeil mit Richtung und Länge</a:t>
            </a:r>
          </a:p>
          <a:p>
            <a:endParaRPr lang="de-DE" dirty="0"/>
          </a:p>
          <a:p>
            <a:r>
              <a:rPr lang="de-DE" dirty="0"/>
              <a:t>Zahlen für x- und y-Richtung</a:t>
            </a:r>
            <a:br>
              <a:rPr lang="de-DE" dirty="0"/>
            </a:br>
            <a:r>
              <a:rPr lang="de-DE" sz="1300" dirty="0"/>
              <a:t>(2 Schritte rechts, 4 Schritte runter)</a:t>
            </a:r>
          </a:p>
          <a:p>
            <a:endParaRPr lang="de-DE" dirty="0"/>
          </a:p>
          <a:p>
            <a:r>
              <a:rPr lang="de-DE" dirty="0"/>
              <a:t>geeignet zum Verschieben von Körpern</a:t>
            </a:r>
          </a:p>
        </p:txBody>
      </p:sp>
      <p:sp>
        <p:nvSpPr>
          <p:cNvPr id="49" name="Gleichschenkliges Dreieck 48"/>
          <p:cNvSpPr/>
          <p:nvPr/>
        </p:nvSpPr>
        <p:spPr>
          <a:xfrm>
            <a:off x="6988142" y="4258444"/>
            <a:ext cx="1080000" cy="720000"/>
          </a:xfrm>
          <a:prstGeom prst="triangle">
            <a:avLst>
              <a:gd name="adj" fmla="val 100000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82" name="Gerade Verbindung mit Pfeil 81"/>
          <p:cNvCxnSpPr/>
          <p:nvPr/>
        </p:nvCxnSpPr>
        <p:spPr>
          <a:xfrm>
            <a:off x="7343062" y="3545335"/>
            <a:ext cx="720000" cy="1440000"/>
          </a:xfrm>
          <a:prstGeom prst="straightConnector1">
            <a:avLst/>
          </a:prstGeom>
          <a:ln w="25400">
            <a:solidFill>
              <a:schemeClr val="tx1"/>
            </a:solidFill>
            <a:prstDash val="sysDash"/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Gerade Verbindung mit Pfeil 82"/>
          <p:cNvCxnSpPr/>
          <p:nvPr/>
        </p:nvCxnSpPr>
        <p:spPr>
          <a:xfrm>
            <a:off x="6245705" y="3545335"/>
            <a:ext cx="720000" cy="1440000"/>
          </a:xfrm>
          <a:prstGeom prst="straightConnector1">
            <a:avLst/>
          </a:prstGeom>
          <a:ln w="25400">
            <a:solidFill>
              <a:schemeClr val="tx1"/>
            </a:solidFill>
            <a:prstDash val="sysDash"/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2" name="Gruppieren 61"/>
          <p:cNvGrpSpPr/>
          <p:nvPr/>
        </p:nvGrpSpPr>
        <p:grpSpPr>
          <a:xfrm>
            <a:off x="5709878" y="2056355"/>
            <a:ext cx="2851667" cy="1830845"/>
            <a:chOff x="5709878" y="2056355"/>
            <a:chExt cx="2851667" cy="1830845"/>
          </a:xfrm>
        </p:grpSpPr>
        <p:grpSp>
          <p:nvGrpSpPr>
            <p:cNvPr id="54" name="Gruppieren 53"/>
            <p:cNvGrpSpPr/>
            <p:nvPr/>
          </p:nvGrpSpPr>
          <p:grpSpPr>
            <a:xfrm>
              <a:off x="5925651" y="2056355"/>
              <a:ext cx="2635894" cy="1830845"/>
              <a:chOff x="5879456" y="2088765"/>
              <a:chExt cx="2635894" cy="1830845"/>
            </a:xfrm>
          </p:grpSpPr>
          <p:cxnSp>
            <p:nvCxnSpPr>
              <p:cNvPr id="80" name="Gerader Verbinder 79"/>
              <p:cNvCxnSpPr/>
              <p:nvPr/>
            </p:nvCxnSpPr>
            <p:spPr>
              <a:xfrm flipV="1">
                <a:off x="6543894" y="3496070"/>
                <a:ext cx="1" cy="18291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Gerader Verbinder 80"/>
              <p:cNvCxnSpPr/>
              <p:nvPr/>
            </p:nvCxnSpPr>
            <p:spPr>
              <a:xfrm flipV="1">
                <a:off x="6910544" y="3486288"/>
                <a:ext cx="1" cy="18291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Gerade Verbindung mit Pfeil 13"/>
              <p:cNvCxnSpPr/>
              <p:nvPr/>
            </p:nvCxnSpPr>
            <p:spPr>
              <a:xfrm flipV="1">
                <a:off x="6201627" y="2088765"/>
                <a:ext cx="0" cy="183084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Gerade Verbindung mit Pfeil 56"/>
              <p:cNvCxnSpPr/>
              <p:nvPr/>
            </p:nvCxnSpPr>
            <p:spPr>
              <a:xfrm>
                <a:off x="5879456" y="3577745"/>
                <a:ext cx="2635894" cy="9914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Gerader Verbinder 35"/>
              <p:cNvCxnSpPr/>
              <p:nvPr/>
            </p:nvCxnSpPr>
            <p:spPr>
              <a:xfrm>
                <a:off x="6109398" y="3192090"/>
                <a:ext cx="18087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Gerader Verbinder 76"/>
              <p:cNvCxnSpPr/>
              <p:nvPr/>
            </p:nvCxnSpPr>
            <p:spPr>
              <a:xfrm>
                <a:off x="6102818" y="2857744"/>
                <a:ext cx="18087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9" name="Textfeld 58"/>
            <p:cNvSpPr txBox="1"/>
            <p:nvPr/>
          </p:nvSpPr>
          <p:spPr>
            <a:xfrm>
              <a:off x="5709878" y="3516534"/>
              <a:ext cx="6982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200" dirty="0"/>
                <a:t>0;0</a:t>
              </a:r>
            </a:p>
          </p:txBody>
        </p:sp>
      </p:grpSp>
      <p:sp>
        <p:nvSpPr>
          <p:cNvPr id="4" name="Gleichschenkliges Dreieck 3"/>
          <p:cNvSpPr/>
          <p:nvPr/>
        </p:nvSpPr>
        <p:spPr>
          <a:xfrm>
            <a:off x="6263062" y="2825335"/>
            <a:ext cx="1080000" cy="720000"/>
          </a:xfrm>
          <a:prstGeom prst="triangle">
            <a:avLst>
              <a:gd name="adj" fmla="val 100000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0" name="Textfeld 99"/>
          <p:cNvSpPr txBox="1"/>
          <p:nvPr/>
        </p:nvSpPr>
        <p:spPr>
          <a:xfrm>
            <a:off x="7122855" y="2405770"/>
            <a:ext cx="4329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>
              <a:defRPr sz="12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</a:lstStyle>
          <a:p>
            <a:r>
              <a:rPr lang="de-DE" dirty="0"/>
              <a:t> 3</a:t>
            </a:r>
          </a:p>
          <a:p>
            <a:r>
              <a:rPr lang="de-DE" dirty="0"/>
              <a:t> 2</a:t>
            </a:r>
          </a:p>
        </p:txBody>
      </p:sp>
      <p:sp>
        <p:nvSpPr>
          <p:cNvPr id="101" name="Textfeld 100"/>
          <p:cNvSpPr txBox="1"/>
          <p:nvPr/>
        </p:nvSpPr>
        <p:spPr>
          <a:xfrm>
            <a:off x="8063062" y="3979330"/>
            <a:ext cx="6982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>
              <a:defRPr sz="12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</a:lstStyle>
          <a:p>
            <a:r>
              <a:rPr lang="de-DE" dirty="0"/>
              <a:t> 5</a:t>
            </a:r>
          </a:p>
          <a:p>
            <a:r>
              <a:rPr lang="de-DE" dirty="0"/>
              <a:t>-2</a:t>
            </a:r>
          </a:p>
        </p:txBody>
      </p:sp>
      <p:sp>
        <p:nvSpPr>
          <p:cNvPr id="102" name="Textfeld 101"/>
          <p:cNvSpPr txBox="1"/>
          <p:nvPr/>
        </p:nvSpPr>
        <p:spPr>
          <a:xfrm>
            <a:off x="7468065" y="2400986"/>
            <a:ext cx="10429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+   2 </a:t>
            </a:r>
          </a:p>
          <a:p>
            <a:r>
              <a:rPr lang="de-DE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+ (-4)</a:t>
            </a:r>
          </a:p>
        </p:txBody>
      </p:sp>
    </p:spTree>
    <p:extLst>
      <p:ext uri="{BB962C8B-B14F-4D97-AF65-F5344CB8AC3E}">
        <p14:creationId xmlns:p14="http://schemas.microsoft.com/office/powerpoint/2010/main" val="38731203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" grpId="0" animBg="1"/>
      <p:bldP spid="93" grpId="0"/>
      <p:bldP spid="49" grpId="0" animBg="1"/>
      <p:bldP spid="4" grpId="0" animBg="1"/>
      <p:bldP spid="100" grpId="0"/>
      <p:bldP spid="101" grpId="0"/>
      <p:bldP spid="10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6">
                <a:lumMod val="5000"/>
                <a:lumOff val="95000"/>
              </a:schemeClr>
            </a:gs>
            <a:gs pos="74000">
              <a:schemeClr val="accent6">
                <a:lumMod val="45000"/>
                <a:lumOff val="55000"/>
              </a:schemeClr>
            </a:gs>
            <a:gs pos="83000">
              <a:schemeClr val="accent6">
                <a:lumMod val="45000"/>
                <a:lumOff val="55000"/>
              </a:schemeClr>
            </a:gs>
            <a:gs pos="100000">
              <a:schemeClr val="accent6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1031E19-7B89-1F29-7878-B7D1CB414C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Embeddings</a:t>
            </a:r>
            <a:r>
              <a:rPr lang="de-DE" dirty="0"/>
              <a:t> berechnen</a:t>
            </a:r>
          </a:p>
        </p:txBody>
      </p:sp>
      <p:sp>
        <p:nvSpPr>
          <p:cNvPr id="50" name="Rechteck 49">
            <a:extLst>
              <a:ext uri="{FF2B5EF4-FFF2-40B4-BE49-F238E27FC236}">
                <a16:creationId xmlns:a16="http://schemas.microsoft.com/office/drawing/2014/main" id="{559DF7E8-AA6E-F99C-1AF0-C813E352E086}"/>
              </a:ext>
            </a:extLst>
          </p:cNvPr>
          <p:cNvSpPr/>
          <p:nvPr/>
        </p:nvSpPr>
        <p:spPr>
          <a:xfrm>
            <a:off x="740530" y="1629135"/>
            <a:ext cx="2659162" cy="34845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Die Sonne scheint.</a:t>
            </a:r>
          </a:p>
        </p:txBody>
      </p:sp>
      <p:cxnSp>
        <p:nvCxnSpPr>
          <p:cNvPr id="6" name="Gewinkelter Verbinder 5"/>
          <p:cNvCxnSpPr>
            <a:stCxn id="50" idx="2"/>
            <a:endCxn id="10" idx="1"/>
          </p:cNvCxnSpPr>
          <p:nvPr/>
        </p:nvCxnSpPr>
        <p:spPr>
          <a:xfrm rot="16200000" flipH="1">
            <a:off x="1886636" y="2161066"/>
            <a:ext cx="1634901" cy="1267951"/>
          </a:xfrm>
          <a:prstGeom prst="bentConnector2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Gewinkelter Verbinder 55"/>
          <p:cNvCxnSpPr>
            <a:stCxn id="10" idx="3"/>
            <a:endCxn id="71" idx="1"/>
          </p:cNvCxnSpPr>
          <p:nvPr/>
        </p:nvCxnSpPr>
        <p:spPr>
          <a:xfrm>
            <a:off x="5498062" y="3612493"/>
            <a:ext cx="1796487" cy="9291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feld 65"/>
          <p:cNvSpPr txBox="1"/>
          <p:nvPr/>
        </p:nvSpPr>
        <p:spPr>
          <a:xfrm>
            <a:off x="6331644" y="4986627"/>
            <a:ext cx="228581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Embedding</a:t>
            </a:r>
          </a:p>
          <a:p>
            <a:pPr algn="ctr"/>
            <a:r>
              <a:rPr lang="de-DE" sz="1200" dirty="0"/>
              <a:t>(z.B. 384 Dimensionen)</a:t>
            </a:r>
          </a:p>
        </p:txBody>
      </p:sp>
      <p:grpSp>
        <p:nvGrpSpPr>
          <p:cNvPr id="75" name="Gruppieren 74"/>
          <p:cNvGrpSpPr/>
          <p:nvPr/>
        </p:nvGrpSpPr>
        <p:grpSpPr>
          <a:xfrm>
            <a:off x="7294549" y="2024032"/>
            <a:ext cx="360000" cy="2846628"/>
            <a:chOff x="5708951" y="2166198"/>
            <a:chExt cx="360000" cy="2846628"/>
          </a:xfrm>
        </p:grpSpPr>
        <p:sp>
          <p:nvSpPr>
            <p:cNvPr id="67" name="Rechteck 66"/>
            <p:cNvSpPr/>
            <p:nvPr/>
          </p:nvSpPr>
          <p:spPr>
            <a:xfrm>
              <a:off x="5708951" y="2166198"/>
              <a:ext cx="360000" cy="36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de-DE" sz="1050" dirty="0">
                  <a:solidFill>
                    <a:schemeClr val="tx1"/>
                  </a:solidFill>
                </a:rPr>
                <a:t>0.32</a:t>
              </a:r>
            </a:p>
          </p:txBody>
        </p:sp>
        <p:sp>
          <p:nvSpPr>
            <p:cNvPr id="68" name="Rechteck 67"/>
            <p:cNvSpPr/>
            <p:nvPr/>
          </p:nvSpPr>
          <p:spPr>
            <a:xfrm>
              <a:off x="5708951" y="2526198"/>
              <a:ext cx="360000" cy="36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de-DE" sz="1050" dirty="0">
                  <a:solidFill>
                    <a:schemeClr val="tx1"/>
                  </a:solidFill>
                </a:rPr>
                <a:t>0.2</a:t>
              </a:r>
            </a:p>
          </p:txBody>
        </p:sp>
        <p:sp>
          <p:nvSpPr>
            <p:cNvPr id="69" name="Rechteck 68"/>
            <p:cNvSpPr/>
            <p:nvPr/>
          </p:nvSpPr>
          <p:spPr>
            <a:xfrm>
              <a:off x="5708951" y="2875074"/>
              <a:ext cx="360000" cy="36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de-DE" sz="1050" dirty="0">
                  <a:solidFill>
                    <a:schemeClr val="tx1"/>
                  </a:solidFill>
                </a:rPr>
                <a:t>0.19</a:t>
              </a:r>
            </a:p>
          </p:txBody>
        </p:sp>
        <p:sp>
          <p:nvSpPr>
            <p:cNvPr id="70" name="Rechteck 69"/>
            <p:cNvSpPr/>
            <p:nvPr/>
          </p:nvSpPr>
          <p:spPr>
            <a:xfrm>
              <a:off x="5708951" y="3235074"/>
              <a:ext cx="360000" cy="36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de-DE" sz="1050" dirty="0">
                  <a:solidFill>
                    <a:schemeClr val="tx1"/>
                  </a:solidFill>
                </a:rPr>
                <a:t>0.16</a:t>
              </a:r>
            </a:p>
          </p:txBody>
        </p:sp>
        <p:sp>
          <p:nvSpPr>
            <p:cNvPr id="71" name="Rechteck 70"/>
            <p:cNvSpPr/>
            <p:nvPr/>
          </p:nvSpPr>
          <p:spPr>
            <a:xfrm>
              <a:off x="5708951" y="3583950"/>
              <a:ext cx="360000" cy="36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de-DE" sz="1050" dirty="0">
                  <a:solidFill>
                    <a:schemeClr val="tx1"/>
                  </a:solidFill>
                </a:rPr>
                <a:t>0.02</a:t>
              </a:r>
            </a:p>
          </p:txBody>
        </p:sp>
        <p:sp>
          <p:nvSpPr>
            <p:cNvPr id="72" name="Rechteck 71"/>
            <p:cNvSpPr/>
            <p:nvPr/>
          </p:nvSpPr>
          <p:spPr>
            <a:xfrm>
              <a:off x="5708951" y="3943950"/>
              <a:ext cx="360000" cy="36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de-DE" sz="1050" dirty="0">
                  <a:solidFill>
                    <a:schemeClr val="tx1"/>
                  </a:solidFill>
                </a:rPr>
                <a:t>0.23</a:t>
              </a:r>
            </a:p>
          </p:txBody>
        </p:sp>
        <p:sp>
          <p:nvSpPr>
            <p:cNvPr id="73" name="Rechteck 72"/>
            <p:cNvSpPr/>
            <p:nvPr/>
          </p:nvSpPr>
          <p:spPr>
            <a:xfrm>
              <a:off x="5708951" y="4292826"/>
              <a:ext cx="360000" cy="36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de-DE" sz="1050" dirty="0">
                  <a:solidFill>
                    <a:schemeClr val="tx1"/>
                  </a:solidFill>
                </a:rPr>
                <a:t>0.3</a:t>
              </a:r>
            </a:p>
          </p:txBody>
        </p:sp>
        <p:sp>
          <p:nvSpPr>
            <p:cNvPr id="74" name="Rechteck 73"/>
            <p:cNvSpPr/>
            <p:nvPr/>
          </p:nvSpPr>
          <p:spPr>
            <a:xfrm>
              <a:off x="5708951" y="4652826"/>
              <a:ext cx="360000" cy="36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de-DE" sz="1050" dirty="0">
                  <a:solidFill>
                    <a:schemeClr val="tx1"/>
                  </a:solidFill>
                </a:rPr>
                <a:t>0.07</a:t>
              </a:r>
            </a:p>
          </p:txBody>
        </p:sp>
      </p:grpSp>
      <p:grpSp>
        <p:nvGrpSpPr>
          <p:cNvPr id="55" name="Gruppieren 54"/>
          <p:cNvGrpSpPr/>
          <p:nvPr/>
        </p:nvGrpSpPr>
        <p:grpSpPr>
          <a:xfrm>
            <a:off x="3338062" y="3161196"/>
            <a:ext cx="2160000" cy="902593"/>
            <a:chOff x="1257590" y="2777922"/>
            <a:chExt cx="2160000" cy="902593"/>
          </a:xfrm>
        </p:grpSpPr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10C02C63-18FE-4EC2-75C3-CA4E89D96E1D}"/>
                </a:ext>
              </a:extLst>
            </p:cNvPr>
            <p:cNvSpPr/>
            <p:nvPr/>
          </p:nvSpPr>
          <p:spPr>
            <a:xfrm>
              <a:off x="1257590" y="2777922"/>
              <a:ext cx="2160000" cy="90259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grpSp>
          <p:nvGrpSpPr>
            <p:cNvPr id="12" name="Gruppieren 11">
              <a:extLst>
                <a:ext uri="{FF2B5EF4-FFF2-40B4-BE49-F238E27FC236}">
                  <a16:creationId xmlns:a16="http://schemas.microsoft.com/office/drawing/2014/main" id="{A5CDF2CD-2FED-BC7A-E95A-9F4EB934091B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671406" y="3177240"/>
              <a:ext cx="419264" cy="419264"/>
              <a:chOff x="5606452" y="5019764"/>
              <a:chExt cx="816429" cy="891487"/>
            </a:xfrm>
          </p:grpSpPr>
          <p:sp>
            <p:nvSpPr>
              <p:cNvPr id="25" name="Stern: 10 Zacken 238">
                <a:extLst>
                  <a:ext uri="{FF2B5EF4-FFF2-40B4-BE49-F238E27FC236}">
                    <a16:creationId xmlns:a16="http://schemas.microsoft.com/office/drawing/2014/main" id="{3D99056D-42CE-7F7F-751A-A98BB9E7F284}"/>
                  </a:ext>
                </a:extLst>
              </p:cNvPr>
              <p:cNvSpPr/>
              <p:nvPr/>
            </p:nvSpPr>
            <p:spPr>
              <a:xfrm>
                <a:off x="5606452" y="5019764"/>
                <a:ext cx="816429" cy="891487"/>
              </a:xfrm>
              <a:prstGeom prst="star10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de-DE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Ellipse 25">
                <a:extLst>
                  <a:ext uri="{FF2B5EF4-FFF2-40B4-BE49-F238E27FC236}">
                    <a16:creationId xmlns:a16="http://schemas.microsoft.com/office/drawing/2014/main" id="{E8714BC4-4D0A-0B6D-D40D-A97B882B87CF}"/>
                  </a:ext>
                </a:extLst>
              </p:cNvPr>
              <p:cNvSpPr/>
              <p:nvPr/>
            </p:nvSpPr>
            <p:spPr>
              <a:xfrm>
                <a:off x="5800473" y="5242636"/>
                <a:ext cx="428387" cy="445744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de-DE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3" name="Gruppieren 12">
              <a:extLst>
                <a:ext uri="{FF2B5EF4-FFF2-40B4-BE49-F238E27FC236}">
                  <a16:creationId xmlns:a16="http://schemas.microsoft.com/office/drawing/2014/main" id="{29526B91-2A2D-DB49-5277-E50974454AF6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170222" y="2808984"/>
              <a:ext cx="603058" cy="603058"/>
              <a:chOff x="5606452" y="5019764"/>
              <a:chExt cx="816429" cy="891487"/>
            </a:xfrm>
          </p:grpSpPr>
          <p:sp>
            <p:nvSpPr>
              <p:cNvPr id="23" name="Stern: 10 Zacken 246">
                <a:extLst>
                  <a:ext uri="{FF2B5EF4-FFF2-40B4-BE49-F238E27FC236}">
                    <a16:creationId xmlns:a16="http://schemas.microsoft.com/office/drawing/2014/main" id="{7E4C8C6A-68B2-F919-7B26-3FA97A9A999C}"/>
                  </a:ext>
                </a:extLst>
              </p:cNvPr>
              <p:cNvSpPr/>
              <p:nvPr/>
            </p:nvSpPr>
            <p:spPr>
              <a:xfrm>
                <a:off x="5606452" y="5019764"/>
                <a:ext cx="816429" cy="891487"/>
              </a:xfrm>
              <a:prstGeom prst="star10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de-DE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Ellipse 23">
                <a:extLst>
                  <a:ext uri="{FF2B5EF4-FFF2-40B4-BE49-F238E27FC236}">
                    <a16:creationId xmlns:a16="http://schemas.microsoft.com/office/drawing/2014/main" id="{459A03AA-09DB-A44E-98CB-881AD4DC08C6}"/>
                  </a:ext>
                </a:extLst>
              </p:cNvPr>
              <p:cNvSpPr/>
              <p:nvPr/>
            </p:nvSpPr>
            <p:spPr>
              <a:xfrm>
                <a:off x="5800473" y="5242636"/>
                <a:ext cx="428387" cy="445744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de-DE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5" name="Gruppieren 14">
              <a:extLst>
                <a:ext uri="{FF2B5EF4-FFF2-40B4-BE49-F238E27FC236}">
                  <a16:creationId xmlns:a16="http://schemas.microsoft.com/office/drawing/2014/main" id="{F240D9EA-56DB-DF92-3B4F-D4D5CF59792E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823098" y="3177240"/>
              <a:ext cx="419264" cy="419264"/>
              <a:chOff x="5606452" y="5019764"/>
              <a:chExt cx="816429" cy="891487"/>
            </a:xfrm>
          </p:grpSpPr>
          <p:sp>
            <p:nvSpPr>
              <p:cNvPr id="20" name="Stern: 10 Zacken 249">
                <a:extLst>
                  <a:ext uri="{FF2B5EF4-FFF2-40B4-BE49-F238E27FC236}">
                    <a16:creationId xmlns:a16="http://schemas.microsoft.com/office/drawing/2014/main" id="{608EEA1B-D268-D84B-0355-DEE631F6CD29}"/>
                  </a:ext>
                </a:extLst>
              </p:cNvPr>
              <p:cNvSpPr/>
              <p:nvPr/>
            </p:nvSpPr>
            <p:spPr>
              <a:xfrm>
                <a:off x="5606452" y="5019764"/>
                <a:ext cx="816429" cy="891487"/>
              </a:xfrm>
              <a:prstGeom prst="star10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de-DE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Ellipse 21">
                <a:extLst>
                  <a:ext uri="{FF2B5EF4-FFF2-40B4-BE49-F238E27FC236}">
                    <a16:creationId xmlns:a16="http://schemas.microsoft.com/office/drawing/2014/main" id="{BE4711B7-D317-0022-FA97-5D22FB606876}"/>
                  </a:ext>
                </a:extLst>
              </p:cNvPr>
              <p:cNvSpPr/>
              <p:nvPr/>
            </p:nvSpPr>
            <p:spPr>
              <a:xfrm>
                <a:off x="5800473" y="5242636"/>
                <a:ext cx="428387" cy="445744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de-DE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6" name="Gruppieren 15">
              <a:extLst>
                <a:ext uri="{FF2B5EF4-FFF2-40B4-BE49-F238E27FC236}">
                  <a16:creationId xmlns:a16="http://schemas.microsoft.com/office/drawing/2014/main" id="{17E8B848-D624-7DFC-A854-D98B60118465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448484" y="2886072"/>
              <a:ext cx="317591" cy="317591"/>
              <a:chOff x="5606452" y="5019764"/>
              <a:chExt cx="816429" cy="891487"/>
            </a:xfrm>
          </p:grpSpPr>
          <p:sp>
            <p:nvSpPr>
              <p:cNvPr id="18" name="Stern: 10 Zacken 252">
                <a:extLst>
                  <a:ext uri="{FF2B5EF4-FFF2-40B4-BE49-F238E27FC236}">
                    <a16:creationId xmlns:a16="http://schemas.microsoft.com/office/drawing/2014/main" id="{49760611-A668-0D0B-725B-18FA051C8A79}"/>
                  </a:ext>
                </a:extLst>
              </p:cNvPr>
              <p:cNvSpPr/>
              <p:nvPr/>
            </p:nvSpPr>
            <p:spPr>
              <a:xfrm>
                <a:off x="5606452" y="5019764"/>
                <a:ext cx="816429" cy="891487"/>
              </a:xfrm>
              <a:prstGeom prst="star10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de-DE">
                  <a:solidFill>
                    <a:schemeClr val="tx1"/>
                  </a:solidFill>
                </a:endParaRPr>
              </a:p>
            </p:txBody>
          </p:sp>
          <p:sp>
            <p:nvSpPr>
              <p:cNvPr id="19" name="Ellipse 18">
                <a:extLst>
                  <a:ext uri="{FF2B5EF4-FFF2-40B4-BE49-F238E27FC236}">
                    <a16:creationId xmlns:a16="http://schemas.microsoft.com/office/drawing/2014/main" id="{0DC16DC0-BF8F-2CFC-F840-472220B82A94}"/>
                  </a:ext>
                </a:extLst>
              </p:cNvPr>
              <p:cNvSpPr/>
              <p:nvPr/>
            </p:nvSpPr>
            <p:spPr>
              <a:xfrm>
                <a:off x="5800473" y="5242636"/>
                <a:ext cx="428387" cy="445744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de-DE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98" name="Textfeld 97"/>
          <p:cNvSpPr txBox="1"/>
          <p:nvPr/>
        </p:nvSpPr>
        <p:spPr>
          <a:xfrm>
            <a:off x="2427897" y="4073081"/>
            <a:ext cx="398033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Embedding-Modell</a:t>
            </a:r>
          </a:p>
          <a:p>
            <a:pPr algn="ctr"/>
            <a:r>
              <a:rPr lang="de-DE" sz="1200" dirty="0"/>
              <a:t>(z.B. all-</a:t>
            </a:r>
            <a:r>
              <a:rPr lang="de-DE" sz="1200" dirty="0" err="1"/>
              <a:t>MiniLM</a:t>
            </a:r>
            <a:r>
              <a:rPr lang="de-DE" sz="1200" dirty="0"/>
              <a:t>-</a:t>
            </a:r>
            <a:r>
              <a:rPr lang="de-DE" sz="1200" dirty="0" err="1"/>
              <a:t>L6-v2.gguf2.f16.gguf</a:t>
            </a:r>
            <a:r>
              <a:rPr lang="de-DE" sz="12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2923032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 animBg="1"/>
      <p:bldP spid="66" grpId="0"/>
      <p:bldP spid="9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6">
                <a:lumMod val="5000"/>
                <a:lumOff val="95000"/>
              </a:schemeClr>
            </a:gs>
            <a:gs pos="74000">
              <a:schemeClr val="accent6">
                <a:lumMod val="45000"/>
                <a:lumOff val="55000"/>
              </a:schemeClr>
            </a:gs>
            <a:gs pos="83000">
              <a:schemeClr val="accent6">
                <a:lumMod val="45000"/>
                <a:lumOff val="55000"/>
              </a:schemeClr>
            </a:gs>
            <a:gs pos="100000">
              <a:schemeClr val="accent6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1031E19-7B89-1F29-7878-B7D1CB414C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Embeddings</a:t>
            </a:r>
            <a:r>
              <a:rPr lang="de-DE" dirty="0"/>
              <a:t> anwenden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559DF7E8-AA6E-F99C-1AF0-C813E352E086}"/>
              </a:ext>
            </a:extLst>
          </p:cNvPr>
          <p:cNvSpPr/>
          <p:nvPr/>
        </p:nvSpPr>
        <p:spPr>
          <a:xfrm>
            <a:off x="336294" y="1727265"/>
            <a:ext cx="3649793" cy="34845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de-DE" dirty="0" err="1">
                <a:solidFill>
                  <a:schemeClr val="tx1"/>
                </a:solidFill>
              </a:rPr>
              <a:t>t1</a:t>
            </a:r>
            <a:r>
              <a:rPr lang="de-DE" dirty="0">
                <a:solidFill>
                  <a:schemeClr val="tx1"/>
                </a:solidFill>
              </a:rPr>
              <a:t>:„Das Wetter ist schön.“</a:t>
            </a:r>
          </a:p>
        </p:txBody>
      </p:sp>
      <p:grpSp>
        <p:nvGrpSpPr>
          <p:cNvPr id="4" name="Gruppieren 3"/>
          <p:cNvGrpSpPr/>
          <p:nvPr/>
        </p:nvGrpSpPr>
        <p:grpSpPr>
          <a:xfrm>
            <a:off x="4780136" y="2416916"/>
            <a:ext cx="1440000" cy="902593"/>
            <a:chOff x="2651698" y="3082609"/>
            <a:chExt cx="1440000" cy="902593"/>
          </a:xfrm>
        </p:grpSpPr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10C02C63-18FE-4EC2-75C3-CA4E89D96E1D}"/>
                </a:ext>
              </a:extLst>
            </p:cNvPr>
            <p:cNvSpPr/>
            <p:nvPr/>
          </p:nvSpPr>
          <p:spPr>
            <a:xfrm>
              <a:off x="2651698" y="3082609"/>
              <a:ext cx="1440000" cy="90259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grpSp>
          <p:nvGrpSpPr>
            <p:cNvPr id="12" name="Gruppieren 11">
              <a:extLst>
                <a:ext uri="{FF2B5EF4-FFF2-40B4-BE49-F238E27FC236}">
                  <a16:creationId xmlns:a16="http://schemas.microsoft.com/office/drawing/2014/main" id="{A5CDF2CD-2FED-BC7A-E95A-9F4EB934091B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983808" y="3495825"/>
              <a:ext cx="419264" cy="419264"/>
              <a:chOff x="5606452" y="5019764"/>
              <a:chExt cx="816429" cy="891487"/>
            </a:xfrm>
          </p:grpSpPr>
          <p:sp>
            <p:nvSpPr>
              <p:cNvPr id="25" name="Stern: 10 Zacken 238">
                <a:extLst>
                  <a:ext uri="{FF2B5EF4-FFF2-40B4-BE49-F238E27FC236}">
                    <a16:creationId xmlns:a16="http://schemas.microsoft.com/office/drawing/2014/main" id="{3D99056D-42CE-7F7F-751A-A98BB9E7F284}"/>
                  </a:ext>
                </a:extLst>
              </p:cNvPr>
              <p:cNvSpPr/>
              <p:nvPr/>
            </p:nvSpPr>
            <p:spPr>
              <a:xfrm>
                <a:off x="5606452" y="5019764"/>
                <a:ext cx="816429" cy="891487"/>
              </a:xfrm>
              <a:prstGeom prst="star10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de-DE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Ellipse 25">
                <a:extLst>
                  <a:ext uri="{FF2B5EF4-FFF2-40B4-BE49-F238E27FC236}">
                    <a16:creationId xmlns:a16="http://schemas.microsoft.com/office/drawing/2014/main" id="{E8714BC4-4D0A-0B6D-D40D-A97B882B87CF}"/>
                  </a:ext>
                </a:extLst>
              </p:cNvPr>
              <p:cNvSpPr/>
              <p:nvPr/>
            </p:nvSpPr>
            <p:spPr>
              <a:xfrm>
                <a:off x="5800473" y="5242636"/>
                <a:ext cx="428387" cy="445744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de-DE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3" name="Gruppieren 12">
              <a:extLst>
                <a:ext uri="{FF2B5EF4-FFF2-40B4-BE49-F238E27FC236}">
                  <a16:creationId xmlns:a16="http://schemas.microsoft.com/office/drawing/2014/main" id="{29526B91-2A2D-DB49-5277-E50974454AF6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405570" y="3134635"/>
              <a:ext cx="603058" cy="603058"/>
              <a:chOff x="5528822" y="5049321"/>
              <a:chExt cx="816429" cy="891487"/>
            </a:xfrm>
          </p:grpSpPr>
          <p:sp>
            <p:nvSpPr>
              <p:cNvPr id="23" name="Stern: 10 Zacken 246">
                <a:extLst>
                  <a:ext uri="{FF2B5EF4-FFF2-40B4-BE49-F238E27FC236}">
                    <a16:creationId xmlns:a16="http://schemas.microsoft.com/office/drawing/2014/main" id="{7E4C8C6A-68B2-F919-7B26-3FA97A9A999C}"/>
                  </a:ext>
                </a:extLst>
              </p:cNvPr>
              <p:cNvSpPr/>
              <p:nvPr/>
            </p:nvSpPr>
            <p:spPr>
              <a:xfrm>
                <a:off x="5528822" y="5049321"/>
                <a:ext cx="816429" cy="891487"/>
              </a:xfrm>
              <a:prstGeom prst="star10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de-DE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Ellipse 23">
                <a:extLst>
                  <a:ext uri="{FF2B5EF4-FFF2-40B4-BE49-F238E27FC236}">
                    <a16:creationId xmlns:a16="http://schemas.microsoft.com/office/drawing/2014/main" id="{459A03AA-09DB-A44E-98CB-881AD4DC08C6}"/>
                  </a:ext>
                </a:extLst>
              </p:cNvPr>
              <p:cNvSpPr/>
              <p:nvPr/>
            </p:nvSpPr>
            <p:spPr>
              <a:xfrm>
                <a:off x="5722842" y="5272193"/>
                <a:ext cx="428386" cy="445744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de-DE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6" name="Gruppieren 15">
              <a:extLst>
                <a:ext uri="{FF2B5EF4-FFF2-40B4-BE49-F238E27FC236}">
                  <a16:creationId xmlns:a16="http://schemas.microsoft.com/office/drawing/2014/main" id="{17E8B848-D624-7DFC-A854-D98B60118465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712727" y="3197970"/>
              <a:ext cx="317591" cy="317591"/>
              <a:chOff x="5606452" y="5019764"/>
              <a:chExt cx="816429" cy="891487"/>
            </a:xfrm>
          </p:grpSpPr>
          <p:sp>
            <p:nvSpPr>
              <p:cNvPr id="18" name="Stern: 10 Zacken 252">
                <a:extLst>
                  <a:ext uri="{FF2B5EF4-FFF2-40B4-BE49-F238E27FC236}">
                    <a16:creationId xmlns:a16="http://schemas.microsoft.com/office/drawing/2014/main" id="{49760611-A668-0D0B-725B-18FA051C8A79}"/>
                  </a:ext>
                </a:extLst>
              </p:cNvPr>
              <p:cNvSpPr/>
              <p:nvPr/>
            </p:nvSpPr>
            <p:spPr>
              <a:xfrm>
                <a:off x="5606452" y="5019764"/>
                <a:ext cx="816429" cy="891487"/>
              </a:xfrm>
              <a:prstGeom prst="star10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de-DE">
                  <a:solidFill>
                    <a:schemeClr val="tx1"/>
                  </a:solidFill>
                </a:endParaRPr>
              </a:p>
            </p:txBody>
          </p:sp>
          <p:sp>
            <p:nvSpPr>
              <p:cNvPr id="19" name="Ellipse 18">
                <a:extLst>
                  <a:ext uri="{FF2B5EF4-FFF2-40B4-BE49-F238E27FC236}">
                    <a16:creationId xmlns:a16="http://schemas.microsoft.com/office/drawing/2014/main" id="{0DC16DC0-BF8F-2CFC-F840-472220B82A94}"/>
                  </a:ext>
                </a:extLst>
              </p:cNvPr>
              <p:cNvSpPr/>
              <p:nvPr/>
            </p:nvSpPr>
            <p:spPr>
              <a:xfrm>
                <a:off x="5800473" y="5242636"/>
                <a:ext cx="428387" cy="445744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de-DE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50" name="Rechteck 49">
            <a:extLst>
              <a:ext uri="{FF2B5EF4-FFF2-40B4-BE49-F238E27FC236}">
                <a16:creationId xmlns:a16="http://schemas.microsoft.com/office/drawing/2014/main" id="{559DF7E8-AA6E-F99C-1AF0-C813E352E086}"/>
              </a:ext>
            </a:extLst>
          </p:cNvPr>
          <p:cNvSpPr/>
          <p:nvPr/>
        </p:nvSpPr>
        <p:spPr>
          <a:xfrm>
            <a:off x="281392" y="2560682"/>
            <a:ext cx="3261195" cy="34845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de-DE" dirty="0" err="1">
                <a:solidFill>
                  <a:schemeClr val="tx1"/>
                </a:solidFill>
              </a:rPr>
              <a:t>t2</a:t>
            </a:r>
            <a:r>
              <a:rPr lang="de-DE" dirty="0">
                <a:solidFill>
                  <a:schemeClr val="tx1"/>
                </a:solidFill>
              </a:rPr>
              <a:t>:„Die Sonne scheint.“</a:t>
            </a:r>
          </a:p>
        </p:txBody>
      </p:sp>
      <p:sp>
        <p:nvSpPr>
          <p:cNvPr id="51" name="Rechteck 50">
            <a:extLst>
              <a:ext uri="{FF2B5EF4-FFF2-40B4-BE49-F238E27FC236}">
                <a16:creationId xmlns:a16="http://schemas.microsoft.com/office/drawing/2014/main" id="{559DF7E8-AA6E-F99C-1AF0-C813E352E086}"/>
              </a:ext>
            </a:extLst>
          </p:cNvPr>
          <p:cNvSpPr/>
          <p:nvPr/>
        </p:nvSpPr>
        <p:spPr>
          <a:xfrm>
            <a:off x="1579561" y="3394099"/>
            <a:ext cx="2216312" cy="34845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de-DE" dirty="0" err="1">
                <a:solidFill>
                  <a:schemeClr val="tx1"/>
                </a:solidFill>
              </a:rPr>
              <a:t>t3</a:t>
            </a:r>
            <a:r>
              <a:rPr lang="de-DE" dirty="0">
                <a:solidFill>
                  <a:schemeClr val="tx1"/>
                </a:solidFill>
              </a:rPr>
              <a:t>:„Es regnet.“</a:t>
            </a:r>
          </a:p>
        </p:txBody>
      </p:sp>
      <p:cxnSp>
        <p:nvCxnSpPr>
          <p:cNvPr id="5" name="Gerade Verbindung mit Pfeil 4"/>
          <p:cNvCxnSpPr>
            <a:stCxn id="8" idx="3"/>
            <a:endCxn id="10" idx="1"/>
          </p:cNvCxnSpPr>
          <p:nvPr/>
        </p:nvCxnSpPr>
        <p:spPr>
          <a:xfrm>
            <a:off x="3986087" y="1901494"/>
            <a:ext cx="794049" cy="966719"/>
          </a:xfrm>
          <a:prstGeom prst="straightConnector1">
            <a:avLst/>
          </a:prstGeom>
          <a:ln w="3175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Gerade Verbindung mit Pfeil 51"/>
          <p:cNvCxnSpPr>
            <a:stCxn id="50" idx="3"/>
            <a:endCxn id="10" idx="1"/>
          </p:cNvCxnSpPr>
          <p:nvPr/>
        </p:nvCxnSpPr>
        <p:spPr>
          <a:xfrm>
            <a:off x="3542587" y="2734911"/>
            <a:ext cx="1237549" cy="133302"/>
          </a:xfrm>
          <a:prstGeom prst="straightConnector1">
            <a:avLst/>
          </a:prstGeom>
          <a:ln w="3175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Gerade Verbindung mit Pfeil 52"/>
          <p:cNvCxnSpPr>
            <a:stCxn id="51" idx="3"/>
            <a:endCxn id="10" idx="1"/>
          </p:cNvCxnSpPr>
          <p:nvPr/>
        </p:nvCxnSpPr>
        <p:spPr>
          <a:xfrm flipV="1">
            <a:off x="3795873" y="2868213"/>
            <a:ext cx="984263" cy="700115"/>
          </a:xfrm>
          <a:prstGeom prst="straightConnector1">
            <a:avLst/>
          </a:prstGeom>
          <a:ln w="3175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unde Klammer links/rechts 54"/>
          <p:cNvSpPr/>
          <p:nvPr/>
        </p:nvSpPr>
        <p:spPr>
          <a:xfrm>
            <a:off x="7289050" y="1531346"/>
            <a:ext cx="519183" cy="716885"/>
          </a:xfrm>
          <a:prstGeom prst="bracketPair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wrap="none" lIns="0" tIns="0" rIns="0" bIns="0" rtlCol="0" anchor="t" anchorCtr="0"/>
          <a:lstStyle/>
          <a:p>
            <a:pPr algn="ctr"/>
            <a:r>
              <a:rPr lang="de-DE" sz="1050" b="1" u="sng" dirty="0" err="1"/>
              <a:t>V1</a:t>
            </a:r>
            <a:endParaRPr lang="de-DE" sz="1050" b="1" u="sng" dirty="0"/>
          </a:p>
          <a:p>
            <a:pPr algn="ctr"/>
            <a:r>
              <a:rPr lang="de-DE" sz="1050" dirty="0"/>
              <a:t>0.02</a:t>
            </a:r>
          </a:p>
          <a:p>
            <a:pPr algn="ctr"/>
            <a:r>
              <a:rPr lang="de-DE" sz="1050" dirty="0"/>
              <a:t>0.16</a:t>
            </a:r>
          </a:p>
          <a:p>
            <a:pPr algn="ctr"/>
            <a:endParaRPr lang="de-DE" sz="1050" dirty="0"/>
          </a:p>
          <a:p>
            <a:pPr algn="ctr"/>
            <a:r>
              <a:rPr lang="de-DE" sz="1050" dirty="0"/>
              <a:t>...</a:t>
            </a:r>
          </a:p>
        </p:txBody>
      </p:sp>
      <p:cxnSp>
        <p:nvCxnSpPr>
          <p:cNvPr id="56" name="Gerade Verbindung mit Pfeil 55"/>
          <p:cNvCxnSpPr>
            <a:stCxn id="10" idx="3"/>
            <a:endCxn id="55" idx="1"/>
          </p:cNvCxnSpPr>
          <p:nvPr/>
        </p:nvCxnSpPr>
        <p:spPr>
          <a:xfrm flipV="1">
            <a:off x="6220136" y="1889789"/>
            <a:ext cx="1068914" cy="978424"/>
          </a:xfrm>
          <a:prstGeom prst="straightConnector1">
            <a:avLst/>
          </a:prstGeom>
          <a:ln w="3175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unde Klammer links/rechts 58"/>
          <p:cNvSpPr/>
          <p:nvPr/>
        </p:nvSpPr>
        <p:spPr>
          <a:xfrm>
            <a:off x="7808233" y="2376469"/>
            <a:ext cx="519183" cy="716885"/>
          </a:xfrm>
          <a:prstGeom prst="bracketPair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wrap="none" lIns="0" tIns="0" rIns="0" bIns="0" rtlCol="0" anchor="t" anchorCtr="0"/>
          <a:lstStyle/>
          <a:p>
            <a:pPr algn="ctr"/>
            <a:r>
              <a:rPr lang="de-DE" sz="1050" b="1" u="sng" dirty="0" err="1"/>
              <a:t>V2</a:t>
            </a:r>
            <a:endParaRPr lang="de-DE" sz="1050" dirty="0"/>
          </a:p>
          <a:p>
            <a:pPr algn="ctr"/>
            <a:r>
              <a:rPr lang="de-DE" sz="1050" dirty="0"/>
              <a:t>0.12</a:t>
            </a:r>
          </a:p>
          <a:p>
            <a:pPr algn="ctr"/>
            <a:r>
              <a:rPr lang="de-DE" sz="1050" dirty="0"/>
              <a:t>0.11</a:t>
            </a:r>
          </a:p>
          <a:p>
            <a:pPr algn="ctr"/>
            <a:endParaRPr lang="de-DE" sz="1050" dirty="0"/>
          </a:p>
          <a:p>
            <a:pPr algn="ctr"/>
            <a:r>
              <a:rPr lang="de-DE" sz="1050" dirty="0"/>
              <a:t>...</a:t>
            </a:r>
          </a:p>
        </p:txBody>
      </p:sp>
      <p:sp>
        <p:nvSpPr>
          <p:cNvPr id="60" name="Runde Klammer links/rechts 59"/>
          <p:cNvSpPr/>
          <p:nvPr/>
        </p:nvSpPr>
        <p:spPr>
          <a:xfrm>
            <a:off x="7534759" y="3319509"/>
            <a:ext cx="519183" cy="716885"/>
          </a:xfrm>
          <a:prstGeom prst="bracketPair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wrap="none" lIns="0" tIns="0" rIns="0" bIns="0" rtlCol="0" anchor="t" anchorCtr="0"/>
          <a:lstStyle/>
          <a:p>
            <a:pPr algn="ctr"/>
            <a:r>
              <a:rPr lang="de-DE" sz="1050" b="1" u="sng" dirty="0" err="1"/>
              <a:t>V3</a:t>
            </a:r>
            <a:endParaRPr lang="de-DE" sz="1050" dirty="0"/>
          </a:p>
          <a:p>
            <a:pPr algn="ctr"/>
            <a:r>
              <a:rPr lang="de-DE" sz="1050" dirty="0"/>
              <a:t>0.01</a:t>
            </a:r>
          </a:p>
          <a:p>
            <a:pPr algn="ctr"/>
            <a:r>
              <a:rPr lang="de-DE" sz="1050" dirty="0"/>
              <a:t>0.38</a:t>
            </a:r>
          </a:p>
          <a:p>
            <a:pPr algn="ctr"/>
            <a:endParaRPr lang="de-DE" sz="1050" dirty="0"/>
          </a:p>
          <a:p>
            <a:pPr algn="ctr"/>
            <a:r>
              <a:rPr lang="de-DE" sz="1050" dirty="0"/>
              <a:t>...</a:t>
            </a:r>
          </a:p>
        </p:txBody>
      </p:sp>
      <p:cxnSp>
        <p:nvCxnSpPr>
          <p:cNvPr id="61" name="Gerade Verbindung mit Pfeil 60"/>
          <p:cNvCxnSpPr>
            <a:stCxn id="10" idx="3"/>
            <a:endCxn id="59" idx="1"/>
          </p:cNvCxnSpPr>
          <p:nvPr/>
        </p:nvCxnSpPr>
        <p:spPr>
          <a:xfrm flipV="1">
            <a:off x="6220136" y="2734912"/>
            <a:ext cx="1588097" cy="133301"/>
          </a:xfrm>
          <a:prstGeom prst="straightConnector1">
            <a:avLst/>
          </a:prstGeom>
          <a:ln w="3175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Gerade Verbindung mit Pfeil 63"/>
          <p:cNvCxnSpPr>
            <a:stCxn id="10" idx="3"/>
            <a:endCxn id="60" idx="1"/>
          </p:cNvCxnSpPr>
          <p:nvPr/>
        </p:nvCxnSpPr>
        <p:spPr>
          <a:xfrm>
            <a:off x="6220136" y="2868213"/>
            <a:ext cx="1314623" cy="809739"/>
          </a:xfrm>
          <a:prstGeom prst="straightConnector1">
            <a:avLst/>
          </a:prstGeom>
          <a:ln w="3175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Textfeld 73"/>
          <p:cNvSpPr txBox="1"/>
          <p:nvPr/>
        </p:nvSpPr>
        <p:spPr>
          <a:xfrm>
            <a:off x="4126233" y="3303175"/>
            <a:ext cx="27478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Embedding-Modell</a:t>
            </a:r>
          </a:p>
        </p:txBody>
      </p:sp>
      <p:sp>
        <p:nvSpPr>
          <p:cNvPr id="27" name="Textfeld 26"/>
          <p:cNvSpPr txBox="1"/>
          <p:nvPr/>
        </p:nvSpPr>
        <p:spPr>
          <a:xfrm>
            <a:off x="7004799" y="4077883"/>
            <a:ext cx="19865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/>
              <a:t>Embeddings</a:t>
            </a:r>
            <a:endParaRPr lang="de-DE" dirty="0"/>
          </a:p>
        </p:txBody>
      </p:sp>
      <p:cxnSp>
        <p:nvCxnSpPr>
          <p:cNvPr id="37" name="Gerade Verbindung mit Pfeil 36"/>
          <p:cNvCxnSpPr/>
          <p:nvPr/>
        </p:nvCxnSpPr>
        <p:spPr>
          <a:xfrm flipH="1" flipV="1">
            <a:off x="4064831" y="5035069"/>
            <a:ext cx="776334" cy="1406177"/>
          </a:xfrm>
          <a:prstGeom prst="straightConnector1">
            <a:avLst/>
          </a:prstGeom>
          <a:ln w="3175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Gerade Verbindung mit Pfeil 39"/>
          <p:cNvCxnSpPr/>
          <p:nvPr/>
        </p:nvCxnSpPr>
        <p:spPr>
          <a:xfrm flipH="1" flipV="1">
            <a:off x="4249247" y="4927493"/>
            <a:ext cx="591918" cy="1513753"/>
          </a:xfrm>
          <a:prstGeom prst="straightConnector1">
            <a:avLst/>
          </a:prstGeom>
          <a:ln w="3175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Gerade Verbindung mit Pfeil 41"/>
          <p:cNvCxnSpPr/>
          <p:nvPr/>
        </p:nvCxnSpPr>
        <p:spPr>
          <a:xfrm flipV="1">
            <a:off x="4841165" y="5010611"/>
            <a:ext cx="745417" cy="1430636"/>
          </a:xfrm>
          <a:prstGeom prst="straightConnector1">
            <a:avLst/>
          </a:prstGeom>
          <a:ln w="3175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feld 30"/>
          <p:cNvSpPr txBox="1"/>
          <p:nvPr/>
        </p:nvSpPr>
        <p:spPr>
          <a:xfrm>
            <a:off x="3721194" y="4841127"/>
            <a:ext cx="398414" cy="27699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de-DE" dirty="0" err="1"/>
              <a:t>V1</a:t>
            </a:r>
            <a:endParaRPr lang="de-DE" dirty="0"/>
          </a:p>
        </p:txBody>
      </p:sp>
      <p:sp>
        <p:nvSpPr>
          <p:cNvPr id="32" name="Rechteck 31"/>
          <p:cNvSpPr/>
          <p:nvPr/>
        </p:nvSpPr>
        <p:spPr>
          <a:xfrm>
            <a:off x="4144891" y="4656461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dirty="0" err="1"/>
              <a:t>V2</a:t>
            </a:r>
            <a:endParaRPr lang="de-DE" dirty="0"/>
          </a:p>
        </p:txBody>
      </p:sp>
      <p:sp>
        <p:nvSpPr>
          <p:cNvPr id="47" name="Rechteck 46"/>
          <p:cNvSpPr/>
          <p:nvPr/>
        </p:nvSpPr>
        <p:spPr>
          <a:xfrm>
            <a:off x="5410196" y="4721766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dirty="0" err="1"/>
              <a:t>V3</a:t>
            </a:r>
            <a:endParaRPr lang="de-DE" dirty="0"/>
          </a:p>
        </p:txBody>
      </p:sp>
      <p:sp>
        <p:nvSpPr>
          <p:cNvPr id="39" name="Ellipse 38"/>
          <p:cNvSpPr/>
          <p:nvPr/>
        </p:nvSpPr>
        <p:spPr>
          <a:xfrm>
            <a:off x="3965251" y="5296825"/>
            <a:ext cx="791142" cy="248961"/>
          </a:xfrm>
          <a:prstGeom prst="ellipse">
            <a:avLst/>
          </a:prstGeom>
          <a:noFill/>
          <a:ln w="25400"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4" name="Rechteck 53"/>
          <p:cNvSpPr/>
          <p:nvPr/>
        </p:nvSpPr>
        <p:spPr>
          <a:xfrm>
            <a:off x="829014" y="5243977"/>
            <a:ext cx="3117869" cy="307777"/>
          </a:xfrm>
          <a:prstGeom prst="rect">
            <a:avLst/>
          </a:prstGeom>
          <a:solidFill>
            <a:schemeClr val="bg1"/>
          </a:solidFill>
          <a:ln w="2540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de-DE" sz="1400" dirty="0">
                <a:solidFill>
                  <a:srgbClr val="FF0000"/>
                </a:solidFill>
              </a:rPr>
              <a:t>Hohe Übereinstimmung!</a:t>
            </a:r>
          </a:p>
        </p:txBody>
      </p:sp>
      <p:sp>
        <p:nvSpPr>
          <p:cNvPr id="57" name="Rechteck 56"/>
          <p:cNvSpPr/>
          <p:nvPr/>
        </p:nvSpPr>
        <p:spPr>
          <a:xfrm>
            <a:off x="829015" y="5545786"/>
            <a:ext cx="3117869" cy="307777"/>
          </a:xfrm>
          <a:prstGeom prst="rect">
            <a:avLst/>
          </a:prstGeom>
          <a:solidFill>
            <a:schemeClr val="bg1"/>
          </a:solidFill>
          <a:ln w="2540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de-DE" sz="1400" dirty="0">
                <a:solidFill>
                  <a:srgbClr val="FF0000"/>
                </a:solidFill>
              </a:rPr>
              <a:t>→ </a:t>
            </a:r>
            <a:r>
              <a:rPr lang="de-DE" sz="1400" dirty="0" err="1">
                <a:solidFill>
                  <a:srgbClr val="FF0000"/>
                </a:solidFill>
              </a:rPr>
              <a:t>t1</a:t>
            </a:r>
            <a:r>
              <a:rPr lang="de-DE" sz="1400" dirty="0">
                <a:solidFill>
                  <a:srgbClr val="FF0000"/>
                </a:solidFill>
              </a:rPr>
              <a:t> und </a:t>
            </a:r>
            <a:r>
              <a:rPr lang="de-DE" sz="1400" dirty="0" err="1">
                <a:solidFill>
                  <a:srgbClr val="FF0000"/>
                </a:solidFill>
              </a:rPr>
              <a:t>t2</a:t>
            </a:r>
            <a:r>
              <a:rPr lang="de-DE" sz="1400" dirty="0">
                <a:solidFill>
                  <a:srgbClr val="FF0000"/>
                </a:solidFill>
              </a:rPr>
              <a:t> sehr ähnlich!</a:t>
            </a:r>
          </a:p>
        </p:txBody>
      </p:sp>
      <p:sp>
        <p:nvSpPr>
          <p:cNvPr id="58" name="Rechteck 57"/>
          <p:cNvSpPr/>
          <p:nvPr/>
        </p:nvSpPr>
        <p:spPr>
          <a:xfrm>
            <a:off x="5220745" y="5342585"/>
            <a:ext cx="2452839" cy="307777"/>
          </a:xfrm>
          <a:prstGeom prst="rect">
            <a:avLst/>
          </a:prstGeom>
          <a:solidFill>
            <a:schemeClr val="bg1"/>
          </a:solidFill>
          <a:ln w="2540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de-DE" sz="1400" dirty="0">
                <a:solidFill>
                  <a:srgbClr val="FF0000"/>
                </a:solidFill>
              </a:rPr>
              <a:t>abweichende Bedeutung</a:t>
            </a:r>
          </a:p>
        </p:txBody>
      </p:sp>
    </p:spTree>
    <p:extLst>
      <p:ext uri="{BB962C8B-B14F-4D97-AF65-F5344CB8AC3E}">
        <p14:creationId xmlns:p14="http://schemas.microsoft.com/office/powerpoint/2010/main" val="32433454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50" grpId="0" animBg="1"/>
      <p:bldP spid="51" grpId="0" animBg="1"/>
      <p:bldP spid="55" grpId="0" animBg="1"/>
      <p:bldP spid="59" grpId="0" animBg="1"/>
      <p:bldP spid="60" grpId="0" animBg="1"/>
      <p:bldP spid="74" grpId="0"/>
      <p:bldP spid="27" grpId="0"/>
      <p:bldP spid="31" grpId="0"/>
      <p:bldP spid="32" grpId="0"/>
      <p:bldP spid="47" grpId="0"/>
      <p:bldP spid="39" grpId="0" animBg="1"/>
      <p:bldP spid="54" grpId="0" animBg="1"/>
      <p:bldP spid="57" grpId="0" animBg="1"/>
      <p:bldP spid="5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6">
                <a:lumMod val="5000"/>
                <a:lumOff val="95000"/>
              </a:schemeClr>
            </a:gs>
            <a:gs pos="74000">
              <a:schemeClr val="accent6">
                <a:lumMod val="45000"/>
                <a:lumOff val="55000"/>
              </a:schemeClr>
            </a:gs>
            <a:gs pos="83000">
              <a:schemeClr val="accent6">
                <a:lumMod val="45000"/>
                <a:lumOff val="55000"/>
              </a:schemeClr>
            </a:gs>
            <a:gs pos="100000">
              <a:schemeClr val="accent6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1031E19-7B89-1F29-7878-B7D1CB414C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Das Skalarprodukt</a:t>
            </a:r>
          </a:p>
        </p:txBody>
      </p:sp>
      <p:sp>
        <p:nvSpPr>
          <p:cNvPr id="4" name="Runde Klammer links/rechts 3"/>
          <p:cNvSpPr/>
          <p:nvPr/>
        </p:nvSpPr>
        <p:spPr>
          <a:xfrm>
            <a:off x="1381594" y="4052496"/>
            <a:ext cx="519183" cy="930535"/>
          </a:xfrm>
          <a:prstGeom prst="bracketPair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wrap="none" lIns="0" tIns="0" rIns="0" bIns="0" rtlCol="0" anchor="t" anchorCtr="0"/>
          <a:lstStyle/>
          <a:p>
            <a:pPr algn="ctr"/>
            <a:r>
              <a:rPr lang="de-DE" dirty="0"/>
              <a:t>2</a:t>
            </a:r>
          </a:p>
          <a:p>
            <a:pPr algn="ctr"/>
            <a:r>
              <a:rPr lang="de-DE" dirty="0"/>
              <a:t>1</a:t>
            </a:r>
          </a:p>
          <a:p>
            <a:pPr algn="ctr"/>
            <a:r>
              <a:rPr lang="de-DE" dirty="0"/>
              <a:t>3</a:t>
            </a:r>
          </a:p>
        </p:txBody>
      </p:sp>
      <p:sp>
        <p:nvSpPr>
          <p:cNvPr id="5" name="Runde Klammer links/rechts 4"/>
          <p:cNvSpPr/>
          <p:nvPr/>
        </p:nvSpPr>
        <p:spPr>
          <a:xfrm>
            <a:off x="2464354" y="4052496"/>
            <a:ext cx="519183" cy="930536"/>
          </a:xfrm>
          <a:prstGeom prst="bracketPair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wrap="none" lIns="0" tIns="0" rIns="0" bIns="0" rtlCol="0" anchor="t" anchorCtr="0"/>
          <a:lstStyle/>
          <a:p>
            <a:pPr algn="ctr"/>
            <a:r>
              <a:rPr lang="de-DE" dirty="0"/>
              <a:t>0</a:t>
            </a:r>
          </a:p>
          <a:p>
            <a:pPr algn="ctr"/>
            <a:r>
              <a:rPr lang="de-DE" dirty="0"/>
              <a:t>4</a:t>
            </a:r>
          </a:p>
          <a:p>
            <a:pPr algn="ctr"/>
            <a:r>
              <a:rPr lang="de-DE" dirty="0"/>
              <a:t>1</a:t>
            </a:r>
          </a:p>
        </p:txBody>
      </p:sp>
      <p:sp>
        <p:nvSpPr>
          <p:cNvPr id="7" name="Textfeld 6"/>
          <p:cNvSpPr txBox="1"/>
          <p:nvPr/>
        </p:nvSpPr>
        <p:spPr>
          <a:xfrm>
            <a:off x="3637841" y="3991422"/>
            <a:ext cx="10630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/>
              <a:t>  2 </a:t>
            </a:r>
            <a:r>
              <a:rPr lang="de-DE">
                <a:latin typeface="Times New Roman" panose="02020603050405020304" pitchFamily="18" charset="0"/>
                <a:cs typeface="Times New Roman" panose="02020603050405020304" pitchFamily="18" charset="0"/>
              </a:rPr>
              <a:t>∙</a:t>
            </a:r>
            <a:r>
              <a:rPr lang="de-DE"/>
              <a:t> 0</a:t>
            </a:r>
            <a:endParaRPr lang="de-DE" dirty="0"/>
          </a:p>
        </p:txBody>
      </p:sp>
      <p:sp>
        <p:nvSpPr>
          <p:cNvPr id="8" name="Textfeld 7"/>
          <p:cNvSpPr txBox="1"/>
          <p:nvPr/>
        </p:nvSpPr>
        <p:spPr>
          <a:xfrm>
            <a:off x="5674832" y="4073097"/>
            <a:ext cx="7117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  0</a:t>
            </a:r>
          </a:p>
          <a:p>
            <a:pPr algn="ctr"/>
            <a:r>
              <a:rPr lang="de-DE" dirty="0"/>
              <a:t>+ 4</a:t>
            </a:r>
          </a:p>
          <a:p>
            <a:pPr algn="ctr"/>
            <a:r>
              <a:rPr lang="de-DE" dirty="0"/>
              <a:t>+ 3</a:t>
            </a:r>
          </a:p>
        </p:txBody>
      </p:sp>
      <p:sp>
        <p:nvSpPr>
          <p:cNvPr id="9" name="Textfeld 8"/>
          <p:cNvSpPr txBox="1"/>
          <p:nvPr/>
        </p:nvSpPr>
        <p:spPr>
          <a:xfrm>
            <a:off x="7023834" y="4107130"/>
            <a:ext cx="76032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de-DE" dirty="0"/>
          </a:p>
          <a:p>
            <a:pPr algn="ctr"/>
            <a:r>
              <a:rPr lang="de-DE" dirty="0"/>
              <a:t>7</a:t>
            </a:r>
          </a:p>
          <a:p>
            <a:pPr algn="ctr"/>
            <a:endParaRPr lang="de-DE" dirty="0"/>
          </a:p>
        </p:txBody>
      </p:sp>
      <p:sp>
        <p:nvSpPr>
          <p:cNvPr id="10" name="Textfeld 9"/>
          <p:cNvSpPr txBox="1"/>
          <p:nvPr/>
        </p:nvSpPr>
        <p:spPr>
          <a:xfrm>
            <a:off x="628650" y="1982091"/>
            <a:ext cx="80531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/>
              <a:t>Berechnung der Übereinstimmung:</a:t>
            </a:r>
          </a:p>
        </p:txBody>
      </p:sp>
      <p:sp>
        <p:nvSpPr>
          <p:cNvPr id="11" name="Textfeld 10"/>
          <p:cNvSpPr txBox="1"/>
          <p:nvPr/>
        </p:nvSpPr>
        <p:spPr>
          <a:xfrm>
            <a:off x="628650" y="2917877"/>
            <a:ext cx="78867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/>
              <a:t>mit dem </a:t>
            </a:r>
            <a:r>
              <a:rPr lang="de-DE" sz="2800" b="1" dirty="0"/>
              <a:t>Skalarprodukt</a:t>
            </a:r>
            <a:r>
              <a:rPr lang="de-DE" sz="2800" dirty="0"/>
              <a:t>:</a:t>
            </a:r>
          </a:p>
        </p:txBody>
      </p:sp>
      <p:sp>
        <p:nvSpPr>
          <p:cNvPr id="14" name="Textfeld 13"/>
          <p:cNvSpPr txBox="1"/>
          <p:nvPr/>
        </p:nvSpPr>
        <p:spPr>
          <a:xfrm>
            <a:off x="1934454" y="4264222"/>
            <a:ext cx="5104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◦</a:t>
            </a:r>
            <a:endParaRPr lang="de-DE" sz="2800" dirty="0"/>
          </a:p>
        </p:txBody>
      </p:sp>
      <p:sp>
        <p:nvSpPr>
          <p:cNvPr id="15" name="Textfeld 14"/>
          <p:cNvSpPr txBox="1"/>
          <p:nvPr/>
        </p:nvSpPr>
        <p:spPr>
          <a:xfrm>
            <a:off x="3216419" y="4252552"/>
            <a:ext cx="5104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endParaRPr lang="de-DE" sz="2800" dirty="0"/>
          </a:p>
        </p:txBody>
      </p:sp>
      <p:sp>
        <p:nvSpPr>
          <p:cNvPr id="16" name="Textfeld 15"/>
          <p:cNvSpPr txBox="1"/>
          <p:nvPr/>
        </p:nvSpPr>
        <p:spPr>
          <a:xfrm>
            <a:off x="5037630" y="4264222"/>
            <a:ext cx="5104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endParaRPr lang="de-DE" sz="2800" dirty="0"/>
          </a:p>
        </p:txBody>
      </p:sp>
      <p:sp>
        <p:nvSpPr>
          <p:cNvPr id="17" name="Textfeld 16"/>
          <p:cNvSpPr txBox="1"/>
          <p:nvPr/>
        </p:nvSpPr>
        <p:spPr>
          <a:xfrm>
            <a:off x="6640059" y="4252552"/>
            <a:ext cx="5104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endParaRPr lang="de-DE" sz="2800" dirty="0"/>
          </a:p>
        </p:txBody>
      </p:sp>
      <p:sp>
        <p:nvSpPr>
          <p:cNvPr id="28" name="Textfeld 27"/>
          <p:cNvSpPr txBox="1"/>
          <p:nvPr/>
        </p:nvSpPr>
        <p:spPr>
          <a:xfrm>
            <a:off x="3639223" y="4329496"/>
            <a:ext cx="10630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+ 1 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∙</a:t>
            </a:r>
            <a:r>
              <a:rPr lang="de-DE" dirty="0"/>
              <a:t> 4</a:t>
            </a:r>
          </a:p>
        </p:txBody>
      </p:sp>
      <p:sp>
        <p:nvSpPr>
          <p:cNvPr id="29" name="Textfeld 28"/>
          <p:cNvSpPr txBox="1"/>
          <p:nvPr/>
        </p:nvSpPr>
        <p:spPr>
          <a:xfrm>
            <a:off x="3655990" y="4669470"/>
            <a:ext cx="10630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+ 3 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∙</a:t>
            </a:r>
            <a:r>
              <a:rPr lang="de-DE" dirty="0"/>
              <a:t> 1</a:t>
            </a:r>
          </a:p>
        </p:txBody>
      </p:sp>
    </p:spTree>
    <p:extLst>
      <p:ext uri="{BB962C8B-B14F-4D97-AF65-F5344CB8AC3E}">
        <p14:creationId xmlns:p14="http://schemas.microsoft.com/office/powerpoint/2010/main" val="34577895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/>
      <p:bldP spid="8" grpId="0"/>
      <p:bldP spid="9" grpId="0"/>
      <p:bldP spid="10" grpId="0"/>
      <p:bldP spid="11" grpId="0"/>
      <p:bldP spid="14" grpId="0"/>
      <p:bldP spid="15" grpId="0"/>
      <p:bldP spid="16" grpId="0"/>
      <p:bldP spid="17" grpId="0"/>
      <p:bldP spid="28" grpId="0"/>
      <p:bldP spid="2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6">
                <a:lumMod val="5000"/>
                <a:lumOff val="95000"/>
              </a:schemeClr>
            </a:gs>
            <a:gs pos="74000">
              <a:schemeClr val="accent6">
                <a:lumMod val="45000"/>
                <a:lumOff val="55000"/>
              </a:schemeClr>
            </a:gs>
            <a:gs pos="83000">
              <a:schemeClr val="accent6">
                <a:lumMod val="45000"/>
                <a:lumOff val="55000"/>
              </a:schemeClr>
            </a:gs>
            <a:gs pos="100000">
              <a:schemeClr val="accent6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1031E19-7B89-1F29-7878-B7D1CB414C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Das Skalarprodukt</a:t>
            </a:r>
          </a:p>
        </p:txBody>
      </p:sp>
      <p:sp>
        <p:nvSpPr>
          <p:cNvPr id="12" name="Textfeld 11"/>
          <p:cNvSpPr txBox="1"/>
          <p:nvPr/>
        </p:nvSpPr>
        <p:spPr>
          <a:xfrm>
            <a:off x="722699" y="2510954"/>
            <a:ext cx="6534455" cy="704193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 anchor="ctr" anchorCtr="0">
            <a:noAutofit/>
          </a:bodyPr>
          <a:lstStyle/>
          <a:p>
            <a:pPr algn="ctr"/>
            <a:r>
              <a:rPr lang="de-DE" sz="2800" dirty="0" err="1"/>
              <a:t>V1</a:t>
            </a:r>
            <a:r>
              <a:rPr lang="de-DE" sz="2800" dirty="0"/>
              <a:t> </a:t>
            </a:r>
            <a:r>
              <a:rPr lang="de-DE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◦  </a:t>
            </a:r>
            <a:r>
              <a:rPr lang="de-DE" sz="2800" dirty="0" err="1"/>
              <a:t>V2</a:t>
            </a:r>
            <a:r>
              <a:rPr lang="de-DE" sz="2800" dirty="0"/>
              <a:t> = |</a:t>
            </a:r>
            <a:r>
              <a:rPr lang="de-DE" sz="2800" dirty="0" err="1"/>
              <a:t>V1</a:t>
            </a:r>
            <a:r>
              <a:rPr lang="de-DE" sz="2800" dirty="0"/>
              <a:t>| </a:t>
            </a:r>
            <a:r>
              <a:rPr lang="de-DE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∙  </a:t>
            </a:r>
            <a:r>
              <a:rPr lang="de-DE" sz="2800" dirty="0"/>
              <a:t>|</a:t>
            </a:r>
            <a:r>
              <a:rPr lang="de-DE" sz="2800" dirty="0" err="1"/>
              <a:t>V2</a:t>
            </a:r>
            <a:r>
              <a:rPr lang="de-DE" sz="2800" dirty="0"/>
              <a:t>| </a:t>
            </a:r>
            <a:r>
              <a:rPr lang="de-DE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∙  cos(</a:t>
            </a:r>
            <a:r>
              <a:rPr lang="el-G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φ</a:t>
            </a:r>
            <a:r>
              <a:rPr lang="de-DE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de-DE" sz="2800" dirty="0"/>
          </a:p>
        </p:txBody>
      </p:sp>
      <p:sp>
        <p:nvSpPr>
          <p:cNvPr id="18" name="Textfeld 17"/>
          <p:cNvSpPr txBox="1"/>
          <p:nvPr/>
        </p:nvSpPr>
        <p:spPr>
          <a:xfrm>
            <a:off x="628650" y="1878716"/>
            <a:ext cx="80531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/>
              <a:t>Bedeutung des Skalarprodukts:</a:t>
            </a:r>
          </a:p>
        </p:txBody>
      </p:sp>
      <p:cxnSp>
        <p:nvCxnSpPr>
          <p:cNvPr id="21" name="Gerade Verbindung mit Pfeil 20"/>
          <p:cNvCxnSpPr>
            <a:cxnSpLocks/>
          </p:cNvCxnSpPr>
          <p:nvPr/>
        </p:nvCxnSpPr>
        <p:spPr>
          <a:xfrm flipV="1">
            <a:off x="3456633" y="3075764"/>
            <a:ext cx="0" cy="131073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feld 22"/>
          <p:cNvSpPr txBox="1"/>
          <p:nvPr/>
        </p:nvSpPr>
        <p:spPr>
          <a:xfrm>
            <a:off x="2047556" y="4386495"/>
            <a:ext cx="23776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000" dirty="0"/>
              <a:t>Vektor-Längen</a:t>
            </a:r>
          </a:p>
        </p:txBody>
      </p:sp>
      <p:cxnSp>
        <p:nvCxnSpPr>
          <p:cNvPr id="25" name="Gerade Verbindung mit Pfeil 24"/>
          <p:cNvCxnSpPr>
            <a:cxnSpLocks/>
          </p:cNvCxnSpPr>
          <p:nvPr/>
        </p:nvCxnSpPr>
        <p:spPr>
          <a:xfrm flipV="1">
            <a:off x="3811679" y="3075764"/>
            <a:ext cx="613553" cy="1304316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Gerade Verbindung mit Pfeil 29"/>
          <p:cNvCxnSpPr>
            <a:cxnSpLocks/>
          </p:cNvCxnSpPr>
          <p:nvPr/>
        </p:nvCxnSpPr>
        <p:spPr>
          <a:xfrm flipH="1" flipV="1">
            <a:off x="5954486" y="3075764"/>
            <a:ext cx="767861" cy="80290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feld 32"/>
          <p:cNvSpPr txBox="1"/>
          <p:nvPr/>
        </p:nvSpPr>
        <p:spPr>
          <a:xfrm>
            <a:off x="5532312" y="3878664"/>
            <a:ext cx="26254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dirty="0"/>
              <a:t>Winkel zwischen den Vektoren</a:t>
            </a:r>
          </a:p>
        </p:txBody>
      </p:sp>
      <p:sp>
        <p:nvSpPr>
          <p:cNvPr id="27" name="Textfeld 26"/>
          <p:cNvSpPr txBox="1"/>
          <p:nvPr/>
        </p:nvSpPr>
        <p:spPr>
          <a:xfrm>
            <a:off x="472273" y="4786605"/>
            <a:ext cx="3818373" cy="33855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noAutofit/>
          </a:bodyPr>
          <a:lstStyle>
            <a:defPPr>
              <a:defRPr lang="de-DE"/>
            </a:defPPr>
            <a:lvl1pPr>
              <a:defRPr sz="1600"/>
            </a:lvl1pPr>
          </a:lstStyle>
          <a:p>
            <a:r>
              <a:rPr lang="de-DE" dirty="0"/>
              <a:t>bei </a:t>
            </a:r>
            <a:r>
              <a:rPr lang="de-DE" dirty="0" err="1"/>
              <a:t>Embeddingmodellen</a:t>
            </a:r>
            <a:r>
              <a:rPr lang="de-DE" dirty="0"/>
              <a:t> oft = 1</a:t>
            </a:r>
          </a:p>
        </p:txBody>
      </p:sp>
      <p:sp>
        <p:nvSpPr>
          <p:cNvPr id="34" name="Textfeld 33"/>
          <p:cNvSpPr txBox="1"/>
          <p:nvPr/>
        </p:nvSpPr>
        <p:spPr>
          <a:xfrm>
            <a:off x="4802417" y="4695568"/>
            <a:ext cx="4070279" cy="33855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noAutofit/>
          </a:bodyPr>
          <a:lstStyle>
            <a:defPPr>
              <a:defRPr lang="de-DE"/>
            </a:defPPr>
            <a:lvl1pPr>
              <a:defRPr sz="1600"/>
            </a:lvl1pPr>
          </a:lstStyle>
          <a:p>
            <a:r>
              <a:rPr lang="de-DE" dirty="0"/>
              <a:t>cos(0°) = 1 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beste Übereinstimmung</a:t>
            </a:r>
            <a:endParaRPr lang="de-DE" dirty="0"/>
          </a:p>
        </p:txBody>
      </p:sp>
      <p:sp>
        <p:nvSpPr>
          <p:cNvPr id="36" name="Textfeld 35"/>
          <p:cNvSpPr txBox="1"/>
          <p:nvPr/>
        </p:nvSpPr>
        <p:spPr>
          <a:xfrm>
            <a:off x="4802417" y="5034122"/>
            <a:ext cx="4070279" cy="33855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noAutofit/>
          </a:bodyPr>
          <a:lstStyle>
            <a:defPPr>
              <a:defRPr lang="de-DE"/>
            </a:defPPr>
            <a:lvl1pPr>
              <a:defRPr sz="1600"/>
            </a:lvl1pPr>
          </a:lstStyle>
          <a:p>
            <a:r>
              <a:rPr lang="de-DE" dirty="0"/>
              <a:t>cos(90°) = 0 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keine Übereinstimmung</a:t>
            </a:r>
            <a:endParaRPr lang="de-DE" dirty="0"/>
          </a:p>
        </p:txBody>
      </p:sp>
      <p:sp>
        <p:nvSpPr>
          <p:cNvPr id="38" name="Textfeld 37"/>
          <p:cNvSpPr txBox="1"/>
          <p:nvPr/>
        </p:nvSpPr>
        <p:spPr>
          <a:xfrm>
            <a:off x="472273" y="5125159"/>
            <a:ext cx="3818373" cy="33855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noAutofit/>
          </a:bodyPr>
          <a:lstStyle>
            <a:defPPr>
              <a:defRPr lang="de-DE"/>
            </a:defPPr>
            <a:lvl1pPr>
              <a:defRPr sz="1600"/>
            </a:lvl1pPr>
          </a:lstStyle>
          <a:p>
            <a:r>
              <a:rPr lang="de-DE" dirty="0"/>
              <a:t>→ kann daher ignoriert werden</a:t>
            </a:r>
          </a:p>
        </p:txBody>
      </p:sp>
    </p:spTree>
    <p:extLst>
      <p:ext uri="{BB962C8B-B14F-4D97-AF65-F5344CB8AC3E}">
        <p14:creationId xmlns:p14="http://schemas.microsoft.com/office/powerpoint/2010/main" val="10965454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8" grpId="0"/>
      <p:bldP spid="23" grpId="0"/>
      <p:bldP spid="33" grpId="0"/>
      <p:bldP spid="27" grpId="0" animBg="1"/>
      <p:bldP spid="34" grpId="0" animBg="1"/>
      <p:bldP spid="36" grpId="0" animBg="1"/>
      <p:bldP spid="3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6">
                <a:lumMod val="5000"/>
                <a:lumOff val="95000"/>
              </a:schemeClr>
            </a:gs>
            <a:gs pos="74000">
              <a:schemeClr val="accent6">
                <a:lumMod val="45000"/>
                <a:lumOff val="55000"/>
              </a:schemeClr>
            </a:gs>
            <a:gs pos="83000">
              <a:schemeClr val="accent6">
                <a:lumMod val="45000"/>
                <a:lumOff val="55000"/>
              </a:schemeClr>
            </a:gs>
            <a:gs pos="100000">
              <a:schemeClr val="accent6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709FE3-D077-C406-61AC-02A7C79C93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909015F-2DB4-43B7-85FC-B55FF42688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Embeddings</a:t>
            </a:r>
            <a:endParaRPr lang="de-DE" dirty="0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8A28C3DF-A401-5CB7-F2FC-D0CF3E6AA5B4}"/>
              </a:ext>
            </a:extLst>
          </p:cNvPr>
          <p:cNvSpPr/>
          <p:nvPr/>
        </p:nvSpPr>
        <p:spPr>
          <a:xfrm>
            <a:off x="376772" y="2188474"/>
            <a:ext cx="3642569" cy="34845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de-DE" dirty="0" err="1">
                <a:solidFill>
                  <a:schemeClr val="tx1"/>
                </a:solidFill>
              </a:rPr>
              <a:t>t1</a:t>
            </a:r>
            <a:r>
              <a:rPr lang="de-DE" dirty="0">
                <a:solidFill>
                  <a:schemeClr val="tx1"/>
                </a:solidFill>
              </a:rPr>
              <a:t>:„Das Wetter ist schön.“</a:t>
            </a:r>
          </a:p>
        </p:txBody>
      </p:sp>
      <p:sp>
        <p:nvSpPr>
          <p:cNvPr id="50" name="Rechteck 49">
            <a:extLst>
              <a:ext uri="{FF2B5EF4-FFF2-40B4-BE49-F238E27FC236}">
                <a16:creationId xmlns:a16="http://schemas.microsoft.com/office/drawing/2014/main" id="{51219ED6-61A7-FDD3-61E4-76CFF74C20E5}"/>
              </a:ext>
            </a:extLst>
          </p:cNvPr>
          <p:cNvSpPr/>
          <p:nvPr/>
        </p:nvSpPr>
        <p:spPr>
          <a:xfrm>
            <a:off x="535457" y="3780886"/>
            <a:ext cx="3272867" cy="34845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de-DE" dirty="0" err="1">
                <a:solidFill>
                  <a:schemeClr val="tx1"/>
                </a:solidFill>
              </a:rPr>
              <a:t>t2</a:t>
            </a:r>
            <a:r>
              <a:rPr lang="de-DE" dirty="0">
                <a:solidFill>
                  <a:schemeClr val="tx1"/>
                </a:solidFill>
              </a:rPr>
              <a:t>:„Die Sonne scheint.“</a:t>
            </a:r>
          </a:p>
        </p:txBody>
      </p:sp>
      <p:sp>
        <p:nvSpPr>
          <p:cNvPr id="51" name="Rechteck 50">
            <a:extLst>
              <a:ext uri="{FF2B5EF4-FFF2-40B4-BE49-F238E27FC236}">
                <a16:creationId xmlns:a16="http://schemas.microsoft.com/office/drawing/2014/main" id="{F1D0DBAB-A073-38B0-8240-A93DD3504872}"/>
              </a:ext>
            </a:extLst>
          </p:cNvPr>
          <p:cNvSpPr/>
          <p:nvPr/>
        </p:nvSpPr>
        <p:spPr>
          <a:xfrm>
            <a:off x="924448" y="5276910"/>
            <a:ext cx="2182706" cy="34588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de-DE" dirty="0" err="1">
                <a:solidFill>
                  <a:schemeClr val="tx1"/>
                </a:solidFill>
              </a:rPr>
              <a:t>t3</a:t>
            </a:r>
            <a:r>
              <a:rPr lang="de-DE" dirty="0">
                <a:solidFill>
                  <a:schemeClr val="tx1"/>
                </a:solidFill>
              </a:rPr>
              <a:t>:„Es regnet.“</a:t>
            </a:r>
          </a:p>
        </p:txBody>
      </p:sp>
      <p:cxnSp>
        <p:nvCxnSpPr>
          <p:cNvPr id="5" name="Gerade Verbindung mit Pfeil 4">
            <a:extLst>
              <a:ext uri="{FF2B5EF4-FFF2-40B4-BE49-F238E27FC236}">
                <a16:creationId xmlns:a16="http://schemas.microsoft.com/office/drawing/2014/main" id="{DFF6B252-33BA-A912-18CE-E7C2EC3B1209}"/>
              </a:ext>
            </a:extLst>
          </p:cNvPr>
          <p:cNvCxnSpPr>
            <a:cxnSpLocks/>
            <a:stCxn id="8" idx="3"/>
            <a:endCxn id="55" idx="1"/>
          </p:cNvCxnSpPr>
          <p:nvPr/>
        </p:nvCxnSpPr>
        <p:spPr>
          <a:xfrm flipV="1">
            <a:off x="4019341" y="2188474"/>
            <a:ext cx="1224993" cy="174229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Gerade Verbindung mit Pfeil 51">
            <a:extLst>
              <a:ext uri="{FF2B5EF4-FFF2-40B4-BE49-F238E27FC236}">
                <a16:creationId xmlns:a16="http://schemas.microsoft.com/office/drawing/2014/main" id="{86EC8328-8F3A-AB5A-A367-1204DF2D0098}"/>
              </a:ext>
            </a:extLst>
          </p:cNvPr>
          <p:cNvCxnSpPr>
            <a:cxnSpLocks/>
            <a:stCxn id="50" idx="3"/>
            <a:endCxn id="59" idx="1"/>
          </p:cNvCxnSpPr>
          <p:nvPr/>
        </p:nvCxnSpPr>
        <p:spPr>
          <a:xfrm flipV="1">
            <a:off x="3808324" y="3454084"/>
            <a:ext cx="1315475" cy="501031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Gerade Verbindung mit Pfeil 52">
            <a:extLst>
              <a:ext uri="{FF2B5EF4-FFF2-40B4-BE49-F238E27FC236}">
                <a16:creationId xmlns:a16="http://schemas.microsoft.com/office/drawing/2014/main" id="{986A5658-B53B-7386-FF18-827E348F8EB9}"/>
              </a:ext>
            </a:extLst>
          </p:cNvPr>
          <p:cNvCxnSpPr>
            <a:cxnSpLocks/>
            <a:stCxn id="51" idx="3"/>
            <a:endCxn id="60" idx="1"/>
          </p:cNvCxnSpPr>
          <p:nvPr/>
        </p:nvCxnSpPr>
        <p:spPr>
          <a:xfrm>
            <a:off x="3107154" y="5449855"/>
            <a:ext cx="2276236" cy="394561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unde Klammer links/rechts 54">
            <a:extLst>
              <a:ext uri="{FF2B5EF4-FFF2-40B4-BE49-F238E27FC236}">
                <a16:creationId xmlns:a16="http://schemas.microsoft.com/office/drawing/2014/main" id="{B6B03CA5-40AF-5829-C08E-53275EDAD8A6}"/>
              </a:ext>
            </a:extLst>
          </p:cNvPr>
          <p:cNvSpPr/>
          <p:nvPr/>
        </p:nvSpPr>
        <p:spPr>
          <a:xfrm>
            <a:off x="5244334" y="1830031"/>
            <a:ext cx="519183" cy="716885"/>
          </a:xfrm>
          <a:prstGeom prst="bracketPai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wrap="none" lIns="0" tIns="0" rIns="0" bIns="0" rtlCol="0" anchor="t" anchorCtr="0"/>
          <a:lstStyle/>
          <a:p>
            <a:pPr algn="ctr"/>
            <a:r>
              <a:rPr lang="de-DE" sz="1050" b="1" u="sng" dirty="0" err="1"/>
              <a:t>V1</a:t>
            </a:r>
            <a:endParaRPr lang="de-DE" sz="1050" b="1" u="sng" dirty="0"/>
          </a:p>
          <a:p>
            <a:pPr algn="ctr"/>
            <a:r>
              <a:rPr lang="de-DE" sz="1050" dirty="0"/>
              <a:t>0.02</a:t>
            </a:r>
          </a:p>
          <a:p>
            <a:pPr algn="ctr"/>
            <a:r>
              <a:rPr lang="de-DE" sz="1050" dirty="0"/>
              <a:t>0.16</a:t>
            </a:r>
          </a:p>
          <a:p>
            <a:pPr algn="ctr"/>
            <a:r>
              <a:rPr lang="de-DE" sz="1050" dirty="0"/>
              <a:t>...</a:t>
            </a:r>
          </a:p>
        </p:txBody>
      </p:sp>
      <p:sp>
        <p:nvSpPr>
          <p:cNvPr id="59" name="Runde Klammer links/rechts 58">
            <a:extLst>
              <a:ext uri="{FF2B5EF4-FFF2-40B4-BE49-F238E27FC236}">
                <a16:creationId xmlns:a16="http://schemas.microsoft.com/office/drawing/2014/main" id="{D4669DD4-F0DE-AE50-8496-59B520CF4985}"/>
              </a:ext>
            </a:extLst>
          </p:cNvPr>
          <p:cNvSpPr/>
          <p:nvPr/>
        </p:nvSpPr>
        <p:spPr>
          <a:xfrm>
            <a:off x="5123799" y="3095641"/>
            <a:ext cx="519183" cy="716885"/>
          </a:xfrm>
          <a:prstGeom prst="bracketPai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wrap="none" lIns="0" tIns="0" rIns="0" bIns="0" rtlCol="0" anchor="t" anchorCtr="0"/>
          <a:lstStyle/>
          <a:p>
            <a:pPr algn="ctr"/>
            <a:r>
              <a:rPr lang="de-DE" sz="1050" b="1" u="sng" dirty="0" err="1"/>
              <a:t>V2</a:t>
            </a:r>
            <a:endParaRPr lang="de-DE" sz="1050" b="1" u="sng" dirty="0"/>
          </a:p>
          <a:p>
            <a:pPr algn="ctr"/>
            <a:r>
              <a:rPr lang="de-DE" sz="1050" dirty="0"/>
              <a:t>0.12</a:t>
            </a:r>
          </a:p>
          <a:p>
            <a:pPr algn="ctr"/>
            <a:r>
              <a:rPr lang="de-DE" sz="1050" dirty="0"/>
              <a:t>0.11</a:t>
            </a:r>
          </a:p>
          <a:p>
            <a:pPr algn="ctr"/>
            <a:r>
              <a:rPr lang="de-DE" sz="1050" dirty="0"/>
              <a:t>...</a:t>
            </a:r>
          </a:p>
        </p:txBody>
      </p:sp>
      <p:sp>
        <p:nvSpPr>
          <p:cNvPr id="60" name="Runde Klammer links/rechts 59">
            <a:extLst>
              <a:ext uri="{FF2B5EF4-FFF2-40B4-BE49-F238E27FC236}">
                <a16:creationId xmlns:a16="http://schemas.microsoft.com/office/drawing/2014/main" id="{0E43A39A-4994-3B45-5E0C-6D071773386E}"/>
              </a:ext>
            </a:extLst>
          </p:cNvPr>
          <p:cNvSpPr/>
          <p:nvPr/>
        </p:nvSpPr>
        <p:spPr>
          <a:xfrm>
            <a:off x="5383390" y="5485973"/>
            <a:ext cx="519183" cy="716885"/>
          </a:xfrm>
          <a:prstGeom prst="bracketPai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wrap="none" lIns="0" tIns="0" rIns="0" bIns="0" rtlCol="0" anchor="t" anchorCtr="0"/>
          <a:lstStyle/>
          <a:p>
            <a:pPr algn="ctr"/>
            <a:r>
              <a:rPr lang="de-DE" sz="1050" b="1" u="sng" dirty="0" err="1"/>
              <a:t>V3</a:t>
            </a:r>
            <a:endParaRPr lang="de-DE" sz="1050" b="1" u="sng" dirty="0"/>
          </a:p>
          <a:p>
            <a:pPr algn="ctr"/>
            <a:r>
              <a:rPr lang="de-DE" sz="1050" dirty="0"/>
              <a:t>0.01</a:t>
            </a:r>
          </a:p>
          <a:p>
            <a:pPr algn="ctr"/>
            <a:r>
              <a:rPr lang="de-DE" sz="1050" dirty="0"/>
              <a:t>0.38</a:t>
            </a:r>
          </a:p>
          <a:p>
            <a:pPr algn="ctr"/>
            <a:r>
              <a:rPr lang="de-DE" sz="1050" dirty="0"/>
              <a:t>...</a:t>
            </a: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846F284B-ACD9-F01A-C2ED-E676F34E079C}"/>
              </a:ext>
            </a:extLst>
          </p:cNvPr>
          <p:cNvSpPr txBox="1"/>
          <p:nvPr/>
        </p:nvSpPr>
        <p:spPr>
          <a:xfrm>
            <a:off x="6573444" y="1007134"/>
            <a:ext cx="1637881" cy="60335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de-DE" dirty="0"/>
              <a:t>Skalar-Produkte</a:t>
            </a:r>
          </a:p>
        </p:txBody>
      </p:sp>
      <p:cxnSp>
        <p:nvCxnSpPr>
          <p:cNvPr id="42" name="Gerade Verbindung mit Pfeil 41">
            <a:extLst>
              <a:ext uri="{FF2B5EF4-FFF2-40B4-BE49-F238E27FC236}">
                <a16:creationId xmlns:a16="http://schemas.microsoft.com/office/drawing/2014/main" id="{E00050BC-759E-AD54-3C70-A20B080AD47A}"/>
              </a:ext>
            </a:extLst>
          </p:cNvPr>
          <p:cNvCxnSpPr>
            <a:cxnSpLocks/>
            <a:stCxn id="55" idx="3"/>
            <a:endCxn id="47" idx="1"/>
          </p:cNvCxnSpPr>
          <p:nvPr/>
        </p:nvCxnSpPr>
        <p:spPr>
          <a:xfrm>
            <a:off x="5763517" y="2188474"/>
            <a:ext cx="1740389" cy="348457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echteck 46">
            <a:extLst>
              <a:ext uri="{FF2B5EF4-FFF2-40B4-BE49-F238E27FC236}">
                <a16:creationId xmlns:a16="http://schemas.microsoft.com/office/drawing/2014/main" id="{AA95915A-3A64-736A-7D08-A8D4262EC94F}"/>
              </a:ext>
            </a:extLst>
          </p:cNvPr>
          <p:cNvSpPr/>
          <p:nvPr/>
        </p:nvSpPr>
        <p:spPr>
          <a:xfrm>
            <a:off x="7503906" y="2352265"/>
            <a:ext cx="1011443" cy="369332"/>
          </a:xfrm>
          <a:prstGeom prst="rect">
            <a:avLst/>
          </a:prstGeom>
          <a:solidFill>
            <a:schemeClr val="bg2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de-DE" dirty="0"/>
              <a:t>0,4915</a:t>
            </a:r>
          </a:p>
        </p:txBody>
      </p:sp>
      <p:cxnSp>
        <p:nvCxnSpPr>
          <p:cNvPr id="62" name="Gerade Verbindung mit Pfeil 61">
            <a:extLst>
              <a:ext uri="{FF2B5EF4-FFF2-40B4-BE49-F238E27FC236}">
                <a16:creationId xmlns:a16="http://schemas.microsoft.com/office/drawing/2014/main" id="{4DC84C59-CA69-2ED3-B81B-1181D56DED60}"/>
              </a:ext>
            </a:extLst>
          </p:cNvPr>
          <p:cNvCxnSpPr>
            <a:cxnSpLocks/>
            <a:stCxn id="59" idx="3"/>
            <a:endCxn id="47" idx="1"/>
          </p:cNvCxnSpPr>
          <p:nvPr/>
        </p:nvCxnSpPr>
        <p:spPr>
          <a:xfrm flipV="1">
            <a:off x="5642982" y="2536931"/>
            <a:ext cx="1860924" cy="917153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Rechteck 67">
            <a:extLst>
              <a:ext uri="{FF2B5EF4-FFF2-40B4-BE49-F238E27FC236}">
                <a16:creationId xmlns:a16="http://schemas.microsoft.com/office/drawing/2014/main" id="{B346063B-8A3E-2174-7859-616BDC85482B}"/>
              </a:ext>
            </a:extLst>
          </p:cNvPr>
          <p:cNvSpPr/>
          <p:nvPr/>
        </p:nvSpPr>
        <p:spPr>
          <a:xfrm>
            <a:off x="7700479" y="3955114"/>
            <a:ext cx="1011442" cy="369332"/>
          </a:xfrm>
          <a:prstGeom prst="rect">
            <a:avLst/>
          </a:prstGeom>
          <a:solidFill>
            <a:schemeClr val="bg2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de-DE" dirty="0"/>
              <a:t>0.2571</a:t>
            </a:r>
          </a:p>
        </p:txBody>
      </p:sp>
      <p:cxnSp>
        <p:nvCxnSpPr>
          <p:cNvPr id="71" name="Gerade Verbindung mit Pfeil 70">
            <a:extLst>
              <a:ext uri="{FF2B5EF4-FFF2-40B4-BE49-F238E27FC236}">
                <a16:creationId xmlns:a16="http://schemas.microsoft.com/office/drawing/2014/main" id="{A8DA9D6E-224B-17F0-DB13-95FABE962DC0}"/>
              </a:ext>
            </a:extLst>
          </p:cNvPr>
          <p:cNvCxnSpPr>
            <a:cxnSpLocks/>
            <a:stCxn id="55" idx="3"/>
            <a:endCxn id="68" idx="0"/>
          </p:cNvCxnSpPr>
          <p:nvPr/>
        </p:nvCxnSpPr>
        <p:spPr>
          <a:xfrm>
            <a:off x="5763517" y="2188474"/>
            <a:ext cx="2442683" cy="1766640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Gerade Verbindung mit Pfeil 74">
            <a:extLst>
              <a:ext uri="{FF2B5EF4-FFF2-40B4-BE49-F238E27FC236}">
                <a16:creationId xmlns:a16="http://schemas.microsoft.com/office/drawing/2014/main" id="{154A18BE-0B69-871A-80F7-2B253D330A96}"/>
              </a:ext>
            </a:extLst>
          </p:cNvPr>
          <p:cNvCxnSpPr>
            <a:cxnSpLocks/>
            <a:stCxn id="60" idx="3"/>
            <a:endCxn id="68" idx="2"/>
          </p:cNvCxnSpPr>
          <p:nvPr/>
        </p:nvCxnSpPr>
        <p:spPr>
          <a:xfrm flipV="1">
            <a:off x="5902573" y="4324446"/>
            <a:ext cx="2303627" cy="1519970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Rechteck 78">
            <a:extLst>
              <a:ext uri="{FF2B5EF4-FFF2-40B4-BE49-F238E27FC236}">
                <a16:creationId xmlns:a16="http://schemas.microsoft.com/office/drawing/2014/main" id="{D1E6E2E9-35E1-ABFB-B499-6497E97E489B}"/>
              </a:ext>
            </a:extLst>
          </p:cNvPr>
          <p:cNvSpPr/>
          <p:nvPr/>
        </p:nvSpPr>
        <p:spPr>
          <a:xfrm>
            <a:off x="6322174" y="4100696"/>
            <a:ext cx="1118714" cy="369332"/>
          </a:xfrm>
          <a:prstGeom prst="rect">
            <a:avLst/>
          </a:prstGeom>
          <a:solidFill>
            <a:schemeClr val="bg2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de-DE" dirty="0"/>
              <a:t>0.2599</a:t>
            </a:r>
          </a:p>
        </p:txBody>
      </p:sp>
      <p:cxnSp>
        <p:nvCxnSpPr>
          <p:cNvPr id="80" name="Gerade Verbindung mit Pfeil 79">
            <a:extLst>
              <a:ext uri="{FF2B5EF4-FFF2-40B4-BE49-F238E27FC236}">
                <a16:creationId xmlns:a16="http://schemas.microsoft.com/office/drawing/2014/main" id="{87B85553-B6BD-DFCE-1DDD-39FE69571D45}"/>
              </a:ext>
            </a:extLst>
          </p:cNvPr>
          <p:cNvCxnSpPr>
            <a:cxnSpLocks/>
            <a:stCxn id="60" idx="3"/>
            <a:endCxn id="79" idx="2"/>
          </p:cNvCxnSpPr>
          <p:nvPr/>
        </p:nvCxnSpPr>
        <p:spPr>
          <a:xfrm flipV="1">
            <a:off x="5902573" y="4470028"/>
            <a:ext cx="978958" cy="1374388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Gerade Verbindung mit Pfeil 82">
            <a:extLst>
              <a:ext uri="{FF2B5EF4-FFF2-40B4-BE49-F238E27FC236}">
                <a16:creationId xmlns:a16="http://schemas.microsoft.com/office/drawing/2014/main" id="{33309FBB-5DE4-E36F-294F-FF8A6B0D7178}"/>
              </a:ext>
            </a:extLst>
          </p:cNvPr>
          <p:cNvCxnSpPr>
            <a:cxnSpLocks/>
            <a:stCxn id="59" idx="3"/>
            <a:endCxn id="79" idx="0"/>
          </p:cNvCxnSpPr>
          <p:nvPr/>
        </p:nvCxnSpPr>
        <p:spPr>
          <a:xfrm>
            <a:off x="5642982" y="3454084"/>
            <a:ext cx="1238549" cy="646612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llipse 8">
            <a:extLst>
              <a:ext uri="{FF2B5EF4-FFF2-40B4-BE49-F238E27FC236}">
                <a16:creationId xmlns:a16="http://schemas.microsoft.com/office/drawing/2014/main" id="{104040FF-280A-D5F3-EC2E-D840276C1417}"/>
              </a:ext>
            </a:extLst>
          </p:cNvPr>
          <p:cNvSpPr/>
          <p:nvPr/>
        </p:nvSpPr>
        <p:spPr>
          <a:xfrm>
            <a:off x="7265324" y="2188474"/>
            <a:ext cx="1446597" cy="713418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6403793D-3B67-051E-32DB-F14363046FBD}"/>
              </a:ext>
            </a:extLst>
          </p:cNvPr>
          <p:cNvSpPr txBox="1"/>
          <p:nvPr/>
        </p:nvSpPr>
        <p:spPr>
          <a:xfrm>
            <a:off x="6958458" y="1588642"/>
            <a:ext cx="2185542" cy="60335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de-DE" dirty="0">
                <a:solidFill>
                  <a:srgbClr val="FF0000"/>
                </a:solidFill>
              </a:rPr>
              <a:t>beste Übereinstimmung</a:t>
            </a:r>
          </a:p>
        </p:txBody>
      </p:sp>
    </p:spTree>
    <p:extLst>
      <p:ext uri="{BB962C8B-B14F-4D97-AF65-F5344CB8AC3E}">
        <p14:creationId xmlns:p14="http://schemas.microsoft.com/office/powerpoint/2010/main" val="5874862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50" grpId="0" animBg="1"/>
      <p:bldP spid="51" grpId="0" animBg="1"/>
      <p:bldP spid="55" grpId="0" animBg="1"/>
      <p:bldP spid="59" grpId="0" animBg="1"/>
      <p:bldP spid="60" grpId="0" animBg="1"/>
      <p:bldP spid="27" grpId="0"/>
      <p:bldP spid="47" grpId="0" animBg="1"/>
      <p:bldP spid="68" grpId="0" animBg="1"/>
      <p:bldP spid="79" grpId="0" animBg="1"/>
      <p:bldP spid="9" grpId="0" animBg="1"/>
      <p:bldP spid="1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6">
                <a:lumMod val="5000"/>
                <a:lumOff val="95000"/>
              </a:schemeClr>
            </a:gs>
            <a:gs pos="74000">
              <a:schemeClr val="accent6">
                <a:lumMod val="45000"/>
                <a:lumOff val="55000"/>
              </a:schemeClr>
            </a:gs>
            <a:gs pos="83000">
              <a:schemeClr val="accent6">
                <a:lumMod val="45000"/>
                <a:lumOff val="55000"/>
              </a:schemeClr>
            </a:gs>
            <a:gs pos="100000">
              <a:schemeClr val="accent6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RAG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628650" y="1825625"/>
            <a:ext cx="8173706" cy="4351338"/>
          </a:xfrm>
        </p:spPr>
        <p:txBody>
          <a:bodyPr/>
          <a:lstStyle/>
          <a:p>
            <a:r>
              <a:rPr lang="de-DE" dirty="0"/>
              <a:t>RAG = </a:t>
            </a:r>
            <a:r>
              <a:rPr lang="de-DE" dirty="0" err="1"/>
              <a:t>Retrieval</a:t>
            </a:r>
            <a:r>
              <a:rPr lang="de-DE" dirty="0"/>
              <a:t> </a:t>
            </a:r>
            <a:r>
              <a:rPr lang="de-DE" dirty="0" err="1"/>
              <a:t>Augmented</a:t>
            </a:r>
            <a:r>
              <a:rPr lang="de-DE" dirty="0"/>
              <a:t> Generation</a:t>
            </a:r>
          </a:p>
          <a:p>
            <a:endParaRPr lang="de-DE" dirty="0"/>
          </a:p>
          <a:p>
            <a:r>
              <a:rPr lang="de-DE" dirty="0"/>
              <a:t>Benutzeranfragen mit passenden Informationen erweitern</a:t>
            </a:r>
          </a:p>
          <a:p>
            <a:pPr lvl="1"/>
            <a:r>
              <a:rPr lang="de-DE" dirty="0"/>
              <a:t>z.B. aus Datenbanken, Internet, ..</a:t>
            </a:r>
          </a:p>
          <a:p>
            <a:endParaRPr lang="de-DE" dirty="0"/>
          </a:p>
          <a:p>
            <a:r>
              <a:rPr lang="de-DE" dirty="0"/>
              <a:t>aufwändiges Nachtrainieren entfällt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608114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6">
                <a:lumMod val="5000"/>
                <a:lumOff val="95000"/>
              </a:schemeClr>
            </a:gs>
            <a:gs pos="74000">
              <a:schemeClr val="accent6">
                <a:lumMod val="45000"/>
                <a:lumOff val="55000"/>
              </a:schemeClr>
            </a:gs>
            <a:gs pos="83000">
              <a:schemeClr val="accent6">
                <a:lumMod val="45000"/>
                <a:lumOff val="55000"/>
              </a:schemeClr>
            </a:gs>
            <a:gs pos="100000">
              <a:schemeClr val="accent6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RAG - Architektur</a:t>
            </a:r>
          </a:p>
        </p:txBody>
      </p:sp>
      <p:grpSp>
        <p:nvGrpSpPr>
          <p:cNvPr id="24" name="Gruppieren 23"/>
          <p:cNvGrpSpPr/>
          <p:nvPr/>
        </p:nvGrpSpPr>
        <p:grpSpPr>
          <a:xfrm>
            <a:off x="490486" y="2723103"/>
            <a:ext cx="276328" cy="871642"/>
            <a:chOff x="909377" y="2371410"/>
            <a:chExt cx="276328" cy="871642"/>
          </a:xfrm>
        </p:grpSpPr>
        <p:sp>
          <p:nvSpPr>
            <p:cNvPr id="5" name="Smiley 4"/>
            <p:cNvSpPr/>
            <p:nvPr/>
          </p:nvSpPr>
          <p:spPr>
            <a:xfrm>
              <a:off x="914400" y="2371410"/>
              <a:ext cx="271305" cy="271305"/>
            </a:xfrm>
            <a:prstGeom prst="smileyFac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7" name="Gerader Verbinder 6"/>
            <p:cNvCxnSpPr>
              <a:endCxn id="5" idx="4"/>
            </p:cNvCxnSpPr>
            <p:nvPr/>
          </p:nvCxnSpPr>
          <p:spPr>
            <a:xfrm flipV="1">
              <a:off x="1045029" y="2642715"/>
              <a:ext cx="5024" cy="40193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Gerader Verbinder 7"/>
            <p:cNvCxnSpPr/>
            <p:nvPr/>
          </p:nvCxnSpPr>
          <p:spPr>
            <a:xfrm flipH="1" flipV="1">
              <a:off x="1045029" y="2706358"/>
              <a:ext cx="140676" cy="21436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Gerader Verbinder 8"/>
            <p:cNvCxnSpPr/>
            <p:nvPr/>
          </p:nvCxnSpPr>
          <p:spPr>
            <a:xfrm flipH="1" flipV="1">
              <a:off x="1045029" y="3004458"/>
              <a:ext cx="129790" cy="23859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Gerader Verbinder 17"/>
            <p:cNvCxnSpPr/>
            <p:nvPr/>
          </p:nvCxnSpPr>
          <p:spPr>
            <a:xfrm flipV="1">
              <a:off x="909377" y="2706358"/>
              <a:ext cx="132722" cy="21436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Gerader Verbinder 21"/>
            <p:cNvCxnSpPr/>
            <p:nvPr/>
          </p:nvCxnSpPr>
          <p:spPr>
            <a:xfrm flipV="1">
              <a:off x="909377" y="3004457"/>
              <a:ext cx="132722" cy="21436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Textfeld 24"/>
          <p:cNvSpPr txBox="1"/>
          <p:nvPr/>
        </p:nvSpPr>
        <p:spPr>
          <a:xfrm>
            <a:off x="1492598" y="3068098"/>
            <a:ext cx="934497" cy="33855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e-DE" sz="1600" dirty="0"/>
              <a:t>Frage</a:t>
            </a:r>
          </a:p>
        </p:txBody>
      </p:sp>
      <p:sp>
        <p:nvSpPr>
          <p:cNvPr id="26" name="Zylinder 25"/>
          <p:cNvSpPr/>
          <p:nvPr/>
        </p:nvSpPr>
        <p:spPr>
          <a:xfrm>
            <a:off x="2828610" y="5084464"/>
            <a:ext cx="1115367" cy="802323"/>
          </a:xfrm>
          <a:prstGeom prst="ca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de-DE" sz="1600" dirty="0"/>
              <a:t>Daten-quelle</a:t>
            </a:r>
          </a:p>
        </p:txBody>
      </p:sp>
      <p:sp>
        <p:nvSpPr>
          <p:cNvPr id="28" name="Cube 27"/>
          <p:cNvSpPr/>
          <p:nvPr/>
        </p:nvSpPr>
        <p:spPr>
          <a:xfrm>
            <a:off x="5719393" y="5029970"/>
            <a:ext cx="1336431" cy="911311"/>
          </a:xfrm>
          <a:prstGeom prst="cub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de-DE" sz="1600" dirty="0">
                <a:solidFill>
                  <a:schemeClr val="tx1"/>
                </a:solidFill>
              </a:rPr>
              <a:t>Sprach-modell</a:t>
            </a:r>
          </a:p>
        </p:txBody>
      </p:sp>
      <p:cxnSp>
        <p:nvCxnSpPr>
          <p:cNvPr id="30" name="Gewinkelter Verbinder 29"/>
          <p:cNvCxnSpPr>
            <a:endCxn id="25" idx="1"/>
          </p:cNvCxnSpPr>
          <p:nvPr/>
        </p:nvCxnSpPr>
        <p:spPr>
          <a:xfrm flipV="1">
            <a:off x="854110" y="3237375"/>
            <a:ext cx="638488" cy="2975"/>
          </a:xfrm>
          <a:prstGeom prst="bentConnector3">
            <a:avLst/>
          </a:prstGeom>
          <a:ln>
            <a:solidFill>
              <a:schemeClr val="tx1"/>
            </a:solidFill>
            <a:prstDash val="sys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Gewinkelter Verbinder 32"/>
          <p:cNvCxnSpPr>
            <a:stCxn id="25" idx="3"/>
            <a:endCxn id="26" idx="2"/>
          </p:cNvCxnSpPr>
          <p:nvPr/>
        </p:nvCxnSpPr>
        <p:spPr>
          <a:xfrm>
            <a:off x="2427095" y="3237375"/>
            <a:ext cx="401515" cy="2248251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prstDash val="sys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Gewinkelter Verbinder 35"/>
          <p:cNvCxnSpPr>
            <a:stCxn id="26" idx="4"/>
            <a:endCxn id="27" idx="1"/>
          </p:cNvCxnSpPr>
          <p:nvPr/>
        </p:nvCxnSpPr>
        <p:spPr>
          <a:xfrm flipV="1">
            <a:off x="3943977" y="3284006"/>
            <a:ext cx="376813" cy="2201620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prstDash val="sys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feld 43"/>
          <p:cNvSpPr txBox="1"/>
          <p:nvPr/>
        </p:nvSpPr>
        <p:spPr>
          <a:xfrm>
            <a:off x="4320790" y="2776175"/>
            <a:ext cx="934497" cy="33855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e-DE" sz="1600" dirty="0"/>
              <a:t>Frage</a:t>
            </a:r>
          </a:p>
        </p:txBody>
      </p:sp>
      <p:cxnSp>
        <p:nvCxnSpPr>
          <p:cNvPr id="45" name="Gewinkelter Verbinder 44"/>
          <p:cNvCxnSpPr>
            <a:stCxn id="49" idx="3"/>
            <a:endCxn id="28" idx="2"/>
          </p:cNvCxnSpPr>
          <p:nvPr/>
        </p:nvCxnSpPr>
        <p:spPr>
          <a:xfrm>
            <a:off x="5255286" y="3114729"/>
            <a:ext cx="464107" cy="2484810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prstDash val="sys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feld 51"/>
          <p:cNvSpPr txBox="1"/>
          <p:nvPr/>
        </p:nvSpPr>
        <p:spPr>
          <a:xfrm>
            <a:off x="7391188" y="2945452"/>
            <a:ext cx="1168752" cy="33855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e-DE" sz="1600" dirty="0"/>
              <a:t>Antwort</a:t>
            </a:r>
          </a:p>
        </p:txBody>
      </p:sp>
      <p:cxnSp>
        <p:nvCxnSpPr>
          <p:cNvPr id="53" name="Gewinkelter Verbinder 52"/>
          <p:cNvCxnSpPr>
            <a:stCxn id="28" idx="4"/>
            <a:endCxn id="52" idx="1"/>
          </p:cNvCxnSpPr>
          <p:nvPr/>
        </p:nvCxnSpPr>
        <p:spPr>
          <a:xfrm flipV="1">
            <a:off x="6827996" y="3114729"/>
            <a:ext cx="563192" cy="2484810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prstDash val="sys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feld 26"/>
          <p:cNvSpPr txBox="1"/>
          <p:nvPr/>
        </p:nvSpPr>
        <p:spPr>
          <a:xfrm>
            <a:off x="4320790" y="3114729"/>
            <a:ext cx="934497" cy="33855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e-DE" sz="1600" dirty="0"/>
              <a:t>Daten</a:t>
            </a:r>
          </a:p>
        </p:txBody>
      </p:sp>
      <p:sp>
        <p:nvSpPr>
          <p:cNvPr id="49" name="Textfeld 48"/>
          <p:cNvSpPr txBox="1"/>
          <p:nvPr/>
        </p:nvSpPr>
        <p:spPr>
          <a:xfrm>
            <a:off x="4320789" y="2776175"/>
            <a:ext cx="934497" cy="67710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pPr algn="ctr"/>
            <a:endParaRPr lang="de-DE" sz="1600" dirty="0"/>
          </a:p>
        </p:txBody>
      </p:sp>
    </p:spTree>
    <p:extLst>
      <p:ext uri="{BB962C8B-B14F-4D97-AF65-F5344CB8AC3E}">
        <p14:creationId xmlns:p14="http://schemas.microsoft.com/office/powerpoint/2010/main" val="16144882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 animBg="1"/>
      <p:bldP spid="28" grpId="0" animBg="1"/>
      <p:bldP spid="44" grpId="0" animBg="1"/>
      <p:bldP spid="52" grpId="0" animBg="1"/>
      <p:bldP spid="27" grpId="0" animBg="1"/>
      <p:bldP spid="4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ENDE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775557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6">
                <a:lumMod val="5000"/>
                <a:lumOff val="95000"/>
              </a:schemeClr>
            </a:gs>
            <a:gs pos="74000">
              <a:schemeClr val="accent6">
                <a:lumMod val="45000"/>
                <a:lumOff val="55000"/>
              </a:schemeClr>
            </a:gs>
            <a:gs pos="83000">
              <a:schemeClr val="accent6">
                <a:lumMod val="45000"/>
                <a:lumOff val="55000"/>
              </a:schemeClr>
            </a:gs>
            <a:gs pos="100000">
              <a:schemeClr val="accent6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1031E19-7B89-1F29-7878-B7D1CB414C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Embeddings</a:t>
            </a:r>
            <a:endParaRPr lang="de-DE" dirty="0"/>
          </a:p>
        </p:txBody>
      </p:sp>
      <p:sp>
        <p:nvSpPr>
          <p:cNvPr id="4" name="Runde Klammer links/rechts 3"/>
          <p:cNvSpPr/>
          <p:nvPr/>
        </p:nvSpPr>
        <p:spPr>
          <a:xfrm>
            <a:off x="1391642" y="3077806"/>
            <a:ext cx="519183" cy="930535"/>
          </a:xfrm>
          <a:prstGeom prst="bracketPair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wrap="none" lIns="0" tIns="0" rIns="0" bIns="0" rtlCol="0" anchor="t" anchorCtr="0"/>
          <a:lstStyle/>
          <a:p>
            <a:pPr algn="ctr"/>
            <a:r>
              <a:rPr lang="de-DE" dirty="0"/>
              <a:t>2</a:t>
            </a:r>
          </a:p>
          <a:p>
            <a:pPr algn="ctr"/>
            <a:r>
              <a:rPr lang="de-DE" dirty="0"/>
              <a:t>1</a:t>
            </a:r>
          </a:p>
          <a:p>
            <a:pPr algn="ctr"/>
            <a:r>
              <a:rPr lang="de-DE" dirty="0"/>
              <a:t>3</a:t>
            </a:r>
          </a:p>
        </p:txBody>
      </p:sp>
      <p:sp>
        <p:nvSpPr>
          <p:cNvPr id="5" name="Runde Klammer links/rechts 4"/>
          <p:cNvSpPr/>
          <p:nvPr/>
        </p:nvSpPr>
        <p:spPr>
          <a:xfrm>
            <a:off x="2474402" y="3077806"/>
            <a:ext cx="519183" cy="930536"/>
          </a:xfrm>
          <a:prstGeom prst="bracketPair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wrap="none" lIns="0" tIns="0" rIns="0" bIns="0" rtlCol="0" anchor="t" anchorCtr="0"/>
          <a:lstStyle/>
          <a:p>
            <a:pPr algn="ctr"/>
            <a:r>
              <a:rPr lang="de-DE" dirty="0"/>
              <a:t>0</a:t>
            </a:r>
          </a:p>
          <a:p>
            <a:pPr algn="ctr"/>
            <a:r>
              <a:rPr lang="de-DE" dirty="0"/>
              <a:t>4</a:t>
            </a:r>
          </a:p>
          <a:p>
            <a:pPr algn="ctr"/>
            <a:r>
              <a:rPr lang="de-DE" dirty="0"/>
              <a:t>1</a:t>
            </a:r>
          </a:p>
        </p:txBody>
      </p:sp>
      <p:sp>
        <p:nvSpPr>
          <p:cNvPr id="7" name="Textfeld 6"/>
          <p:cNvSpPr txBox="1"/>
          <p:nvPr/>
        </p:nvSpPr>
        <p:spPr>
          <a:xfrm>
            <a:off x="3647889" y="3016732"/>
            <a:ext cx="10630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  0 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∙</a:t>
            </a:r>
            <a:r>
              <a:rPr lang="de-DE" dirty="0"/>
              <a:t> 2</a:t>
            </a:r>
          </a:p>
        </p:txBody>
      </p:sp>
      <p:sp>
        <p:nvSpPr>
          <p:cNvPr id="8" name="Textfeld 7"/>
          <p:cNvSpPr txBox="1"/>
          <p:nvPr/>
        </p:nvSpPr>
        <p:spPr>
          <a:xfrm>
            <a:off x="5684880" y="3098407"/>
            <a:ext cx="7117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  0</a:t>
            </a:r>
          </a:p>
          <a:p>
            <a:pPr algn="ctr"/>
            <a:r>
              <a:rPr lang="de-DE" dirty="0"/>
              <a:t>+ 4</a:t>
            </a:r>
          </a:p>
          <a:p>
            <a:pPr algn="ctr"/>
            <a:r>
              <a:rPr lang="de-DE" dirty="0"/>
              <a:t>+ 3</a:t>
            </a:r>
          </a:p>
        </p:txBody>
      </p:sp>
      <p:sp>
        <p:nvSpPr>
          <p:cNvPr id="9" name="Textfeld 8"/>
          <p:cNvSpPr txBox="1"/>
          <p:nvPr/>
        </p:nvSpPr>
        <p:spPr>
          <a:xfrm>
            <a:off x="7033882" y="3132440"/>
            <a:ext cx="76032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de-DE" dirty="0"/>
          </a:p>
          <a:p>
            <a:pPr algn="ctr"/>
            <a:r>
              <a:rPr lang="de-DE" dirty="0"/>
              <a:t>7</a:t>
            </a:r>
          </a:p>
          <a:p>
            <a:pPr algn="ctr"/>
            <a:endParaRPr lang="de-DE" dirty="0"/>
          </a:p>
        </p:txBody>
      </p:sp>
      <p:sp>
        <p:nvSpPr>
          <p:cNvPr id="12" name="Textfeld 11"/>
          <p:cNvSpPr txBox="1"/>
          <p:nvPr/>
        </p:nvSpPr>
        <p:spPr>
          <a:xfrm>
            <a:off x="1231150" y="1708158"/>
            <a:ext cx="69595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 err="1"/>
              <a:t>V1</a:t>
            </a:r>
            <a:r>
              <a:rPr lang="de-DE" sz="2800" dirty="0"/>
              <a:t> </a:t>
            </a:r>
            <a:r>
              <a:rPr lang="de-DE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◦  </a:t>
            </a:r>
            <a:r>
              <a:rPr lang="de-DE" sz="2800" dirty="0" err="1"/>
              <a:t>V2</a:t>
            </a:r>
            <a:r>
              <a:rPr lang="de-DE" sz="2800" dirty="0"/>
              <a:t> = |</a:t>
            </a:r>
            <a:r>
              <a:rPr lang="de-DE" sz="2800" dirty="0" err="1"/>
              <a:t>V1</a:t>
            </a:r>
            <a:r>
              <a:rPr lang="de-DE" sz="2800" dirty="0"/>
              <a:t>| </a:t>
            </a:r>
            <a:r>
              <a:rPr lang="de-DE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∙  </a:t>
            </a:r>
            <a:r>
              <a:rPr lang="de-DE" sz="2800" dirty="0"/>
              <a:t>|</a:t>
            </a:r>
            <a:r>
              <a:rPr lang="de-DE" sz="2800" dirty="0" err="1"/>
              <a:t>V2</a:t>
            </a:r>
            <a:r>
              <a:rPr lang="de-DE" sz="2800" dirty="0"/>
              <a:t>| </a:t>
            </a:r>
            <a:r>
              <a:rPr lang="de-DE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∙  cos(</a:t>
            </a:r>
            <a:r>
              <a:rPr lang="el-G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φ</a:t>
            </a:r>
            <a:r>
              <a:rPr lang="de-DE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de-DE" sz="2800" dirty="0"/>
          </a:p>
        </p:txBody>
      </p:sp>
      <p:sp>
        <p:nvSpPr>
          <p:cNvPr id="14" name="Textfeld 13"/>
          <p:cNvSpPr txBox="1"/>
          <p:nvPr/>
        </p:nvSpPr>
        <p:spPr>
          <a:xfrm>
            <a:off x="1944502" y="3289532"/>
            <a:ext cx="5104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◦</a:t>
            </a:r>
            <a:endParaRPr lang="de-DE" sz="2800" dirty="0"/>
          </a:p>
        </p:txBody>
      </p:sp>
      <p:sp>
        <p:nvSpPr>
          <p:cNvPr id="15" name="Textfeld 14"/>
          <p:cNvSpPr txBox="1"/>
          <p:nvPr/>
        </p:nvSpPr>
        <p:spPr>
          <a:xfrm>
            <a:off x="3226467" y="3277862"/>
            <a:ext cx="5104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endParaRPr lang="de-DE" sz="2800" dirty="0"/>
          </a:p>
        </p:txBody>
      </p:sp>
      <p:sp>
        <p:nvSpPr>
          <p:cNvPr id="16" name="Textfeld 15"/>
          <p:cNvSpPr txBox="1"/>
          <p:nvPr/>
        </p:nvSpPr>
        <p:spPr>
          <a:xfrm>
            <a:off x="5047678" y="3289532"/>
            <a:ext cx="5104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endParaRPr lang="de-DE" sz="2800" dirty="0"/>
          </a:p>
        </p:txBody>
      </p:sp>
      <p:sp>
        <p:nvSpPr>
          <p:cNvPr id="17" name="Textfeld 16"/>
          <p:cNvSpPr txBox="1"/>
          <p:nvPr/>
        </p:nvSpPr>
        <p:spPr>
          <a:xfrm>
            <a:off x="6650107" y="3277862"/>
            <a:ext cx="5104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endParaRPr lang="de-DE" sz="2800" dirty="0"/>
          </a:p>
        </p:txBody>
      </p:sp>
      <p:sp>
        <p:nvSpPr>
          <p:cNvPr id="18" name="Textfeld 17"/>
          <p:cNvSpPr txBox="1"/>
          <p:nvPr/>
        </p:nvSpPr>
        <p:spPr>
          <a:xfrm>
            <a:off x="628650" y="4325408"/>
            <a:ext cx="80531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/>
              <a:t>- Bedeutung des Skalarprodukts:</a:t>
            </a:r>
          </a:p>
        </p:txBody>
      </p:sp>
      <p:cxnSp>
        <p:nvCxnSpPr>
          <p:cNvPr id="21" name="Gerade Verbindung mit Pfeil 20"/>
          <p:cNvCxnSpPr/>
          <p:nvPr/>
        </p:nvCxnSpPr>
        <p:spPr>
          <a:xfrm flipH="1" flipV="1">
            <a:off x="3617407" y="5384600"/>
            <a:ext cx="48631" cy="578674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feld 22"/>
          <p:cNvSpPr txBox="1"/>
          <p:nvPr/>
        </p:nvSpPr>
        <p:spPr>
          <a:xfrm>
            <a:off x="2746983" y="5963274"/>
            <a:ext cx="23776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000" dirty="0">
                <a:solidFill>
                  <a:srgbClr val="FF0000"/>
                </a:solidFill>
              </a:rPr>
              <a:t>Vektor-Längen</a:t>
            </a:r>
          </a:p>
        </p:txBody>
      </p:sp>
      <p:cxnSp>
        <p:nvCxnSpPr>
          <p:cNvPr id="25" name="Gerade Verbindung mit Pfeil 24"/>
          <p:cNvCxnSpPr/>
          <p:nvPr/>
        </p:nvCxnSpPr>
        <p:spPr>
          <a:xfrm flipV="1">
            <a:off x="4048644" y="5427304"/>
            <a:ext cx="764516" cy="555812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feld 27"/>
          <p:cNvSpPr txBox="1"/>
          <p:nvPr/>
        </p:nvSpPr>
        <p:spPr>
          <a:xfrm>
            <a:off x="3649271" y="3354806"/>
            <a:ext cx="10630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+ 1 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∙</a:t>
            </a:r>
            <a:r>
              <a:rPr lang="de-DE" dirty="0"/>
              <a:t> 4</a:t>
            </a:r>
          </a:p>
        </p:txBody>
      </p:sp>
      <p:sp>
        <p:nvSpPr>
          <p:cNvPr id="29" name="Textfeld 28"/>
          <p:cNvSpPr txBox="1"/>
          <p:nvPr/>
        </p:nvSpPr>
        <p:spPr>
          <a:xfrm>
            <a:off x="3666038" y="3694780"/>
            <a:ext cx="10630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+ 3 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∙</a:t>
            </a:r>
            <a:r>
              <a:rPr lang="de-DE" dirty="0"/>
              <a:t> 1</a:t>
            </a:r>
          </a:p>
        </p:txBody>
      </p:sp>
      <p:cxnSp>
        <p:nvCxnSpPr>
          <p:cNvPr id="30" name="Gerade Verbindung mit Pfeil 29"/>
          <p:cNvCxnSpPr/>
          <p:nvPr/>
        </p:nvCxnSpPr>
        <p:spPr>
          <a:xfrm flipH="1" flipV="1">
            <a:off x="6521051" y="5384598"/>
            <a:ext cx="129056" cy="383156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feld 32"/>
          <p:cNvSpPr txBox="1"/>
          <p:nvPr/>
        </p:nvSpPr>
        <p:spPr>
          <a:xfrm>
            <a:off x="5592602" y="5767754"/>
            <a:ext cx="26254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000" dirty="0">
                <a:solidFill>
                  <a:srgbClr val="FF0000"/>
                </a:solidFill>
              </a:rPr>
              <a:t>Winkel zwischen den Vektoren</a:t>
            </a:r>
          </a:p>
        </p:txBody>
      </p:sp>
    </p:spTree>
    <p:extLst>
      <p:ext uri="{BB962C8B-B14F-4D97-AF65-F5344CB8AC3E}">
        <p14:creationId xmlns:p14="http://schemas.microsoft.com/office/powerpoint/2010/main" val="35242293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/>
      <p:bldP spid="8" grpId="0"/>
      <p:bldP spid="9" grpId="0"/>
      <p:bldP spid="12" grpId="0"/>
      <p:bldP spid="14" grpId="0"/>
      <p:bldP spid="15" grpId="0"/>
      <p:bldP spid="16" grpId="0"/>
      <p:bldP spid="17" grpId="0"/>
      <p:bldP spid="18" grpId="0"/>
      <p:bldP spid="23" grpId="0"/>
      <p:bldP spid="28" grpId="0"/>
      <p:bldP spid="29" grpId="0"/>
      <p:bldP spid="3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6">
                <a:lumMod val="5000"/>
                <a:lumOff val="95000"/>
              </a:schemeClr>
            </a:gs>
            <a:gs pos="74000">
              <a:schemeClr val="accent6">
                <a:lumMod val="45000"/>
                <a:lumOff val="55000"/>
              </a:schemeClr>
            </a:gs>
            <a:gs pos="83000">
              <a:schemeClr val="accent6">
                <a:lumMod val="45000"/>
                <a:lumOff val="55000"/>
              </a:schemeClr>
            </a:gs>
            <a:gs pos="100000">
              <a:schemeClr val="accent6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1031E19-7B89-1F29-7878-B7D1CB414C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Embeddings</a:t>
            </a:r>
            <a:endParaRPr lang="de-DE" dirty="0"/>
          </a:p>
        </p:txBody>
      </p:sp>
      <p:sp>
        <p:nvSpPr>
          <p:cNvPr id="3" name="Textfeld 2"/>
          <p:cNvSpPr txBox="1"/>
          <p:nvPr/>
        </p:nvSpPr>
        <p:spPr>
          <a:xfrm>
            <a:off x="2421653" y="3737987"/>
            <a:ext cx="7837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b="1" u="sng" dirty="0" err="1"/>
              <a:t>V1</a:t>
            </a:r>
            <a:endParaRPr lang="de-DE" b="1" u="sng" dirty="0"/>
          </a:p>
        </p:txBody>
      </p:sp>
    </p:spTree>
    <p:extLst>
      <p:ext uri="{BB962C8B-B14F-4D97-AF65-F5344CB8AC3E}">
        <p14:creationId xmlns:p14="http://schemas.microsoft.com/office/powerpoint/2010/main" val="32345953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6">
                <a:lumMod val="5000"/>
                <a:lumOff val="95000"/>
              </a:schemeClr>
            </a:gs>
            <a:gs pos="74000">
              <a:schemeClr val="accent6">
                <a:lumMod val="45000"/>
                <a:lumOff val="55000"/>
              </a:schemeClr>
            </a:gs>
            <a:gs pos="83000">
              <a:schemeClr val="accent6">
                <a:lumMod val="45000"/>
                <a:lumOff val="55000"/>
              </a:schemeClr>
            </a:gs>
            <a:gs pos="100000">
              <a:schemeClr val="accent6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1031E19-7B89-1F29-7878-B7D1CB414C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Embeddings</a:t>
            </a:r>
            <a:endParaRPr lang="de-DE" dirty="0"/>
          </a:p>
        </p:txBody>
      </p:sp>
      <p:sp>
        <p:nvSpPr>
          <p:cNvPr id="76" name="Textfeld 75"/>
          <p:cNvSpPr txBox="1"/>
          <p:nvPr/>
        </p:nvSpPr>
        <p:spPr>
          <a:xfrm>
            <a:off x="5198852" y="1550021"/>
            <a:ext cx="3639870" cy="441536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txBody>
          <a:bodyPr wrap="square" rtlCol="0" anchor="t" anchorCtr="0">
            <a:noAutofit/>
          </a:bodyPr>
          <a:lstStyle/>
          <a:p>
            <a:pPr algn="ctr"/>
            <a:r>
              <a:rPr lang="en-US" sz="1400" dirty="0"/>
              <a:t>Was </a:t>
            </a:r>
            <a:r>
              <a:rPr lang="en-US" sz="1400" dirty="0" err="1"/>
              <a:t>ist</a:t>
            </a:r>
            <a:r>
              <a:rPr lang="en-US" sz="1400" dirty="0"/>
              <a:t> </a:t>
            </a:r>
            <a:r>
              <a:rPr lang="en-US" sz="1400" dirty="0" err="1"/>
              <a:t>ein</a:t>
            </a:r>
            <a:r>
              <a:rPr lang="en-US" sz="1400" dirty="0"/>
              <a:t> </a:t>
            </a:r>
            <a:r>
              <a:rPr lang="en-US" sz="1400" dirty="0" err="1"/>
              <a:t>Vektor</a:t>
            </a:r>
            <a:r>
              <a:rPr lang="en-US" sz="1400" dirty="0"/>
              <a:t>?</a:t>
            </a:r>
          </a:p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sz="1400" dirty="0"/>
              <a:t> </a:t>
            </a:r>
            <a:r>
              <a:rPr lang="en-US" sz="1400" dirty="0" err="1"/>
              <a:t>ein</a:t>
            </a:r>
            <a:r>
              <a:rPr lang="en-US" sz="1400" dirty="0"/>
              <a:t> </a:t>
            </a:r>
            <a:r>
              <a:rPr lang="en-US" sz="1400" dirty="0" err="1"/>
              <a:t>Pfeil</a:t>
            </a:r>
            <a:r>
              <a:rPr lang="en-US" sz="1400" dirty="0"/>
              <a:t>!</a:t>
            </a:r>
          </a:p>
        </p:txBody>
      </p:sp>
      <p:grpSp>
        <p:nvGrpSpPr>
          <p:cNvPr id="55" name="Gruppieren 54"/>
          <p:cNvGrpSpPr/>
          <p:nvPr/>
        </p:nvGrpSpPr>
        <p:grpSpPr>
          <a:xfrm>
            <a:off x="1046575" y="2437738"/>
            <a:ext cx="2160000" cy="902593"/>
            <a:chOff x="1257590" y="2777922"/>
            <a:chExt cx="2160000" cy="902593"/>
          </a:xfrm>
        </p:grpSpPr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10C02C63-18FE-4EC2-75C3-CA4E89D96E1D}"/>
                </a:ext>
              </a:extLst>
            </p:cNvPr>
            <p:cNvSpPr/>
            <p:nvPr/>
          </p:nvSpPr>
          <p:spPr>
            <a:xfrm>
              <a:off x="1257590" y="2777922"/>
              <a:ext cx="2160000" cy="90259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grpSp>
          <p:nvGrpSpPr>
            <p:cNvPr id="12" name="Gruppieren 11">
              <a:extLst>
                <a:ext uri="{FF2B5EF4-FFF2-40B4-BE49-F238E27FC236}">
                  <a16:creationId xmlns:a16="http://schemas.microsoft.com/office/drawing/2014/main" id="{A5CDF2CD-2FED-BC7A-E95A-9F4EB934091B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671406" y="3177240"/>
              <a:ext cx="419264" cy="419264"/>
              <a:chOff x="5606452" y="5019764"/>
              <a:chExt cx="816429" cy="891487"/>
            </a:xfrm>
          </p:grpSpPr>
          <p:sp>
            <p:nvSpPr>
              <p:cNvPr id="25" name="Stern: 10 Zacken 238">
                <a:extLst>
                  <a:ext uri="{FF2B5EF4-FFF2-40B4-BE49-F238E27FC236}">
                    <a16:creationId xmlns:a16="http://schemas.microsoft.com/office/drawing/2014/main" id="{3D99056D-42CE-7F7F-751A-A98BB9E7F284}"/>
                  </a:ext>
                </a:extLst>
              </p:cNvPr>
              <p:cNvSpPr/>
              <p:nvPr/>
            </p:nvSpPr>
            <p:spPr>
              <a:xfrm>
                <a:off x="5606452" y="5019764"/>
                <a:ext cx="816429" cy="891487"/>
              </a:xfrm>
              <a:prstGeom prst="star10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de-DE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Ellipse 25">
                <a:extLst>
                  <a:ext uri="{FF2B5EF4-FFF2-40B4-BE49-F238E27FC236}">
                    <a16:creationId xmlns:a16="http://schemas.microsoft.com/office/drawing/2014/main" id="{E8714BC4-4D0A-0B6D-D40D-A97B882B87CF}"/>
                  </a:ext>
                </a:extLst>
              </p:cNvPr>
              <p:cNvSpPr/>
              <p:nvPr/>
            </p:nvSpPr>
            <p:spPr>
              <a:xfrm>
                <a:off x="5800473" y="5242636"/>
                <a:ext cx="428387" cy="445744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de-DE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3" name="Gruppieren 12">
              <a:extLst>
                <a:ext uri="{FF2B5EF4-FFF2-40B4-BE49-F238E27FC236}">
                  <a16:creationId xmlns:a16="http://schemas.microsoft.com/office/drawing/2014/main" id="{29526B91-2A2D-DB49-5277-E50974454AF6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170222" y="2808984"/>
              <a:ext cx="603058" cy="603058"/>
              <a:chOff x="5606452" y="5019764"/>
              <a:chExt cx="816429" cy="891487"/>
            </a:xfrm>
          </p:grpSpPr>
          <p:sp>
            <p:nvSpPr>
              <p:cNvPr id="23" name="Stern: 10 Zacken 246">
                <a:extLst>
                  <a:ext uri="{FF2B5EF4-FFF2-40B4-BE49-F238E27FC236}">
                    <a16:creationId xmlns:a16="http://schemas.microsoft.com/office/drawing/2014/main" id="{7E4C8C6A-68B2-F919-7B26-3FA97A9A999C}"/>
                  </a:ext>
                </a:extLst>
              </p:cNvPr>
              <p:cNvSpPr/>
              <p:nvPr/>
            </p:nvSpPr>
            <p:spPr>
              <a:xfrm>
                <a:off x="5606452" y="5019764"/>
                <a:ext cx="816429" cy="891487"/>
              </a:xfrm>
              <a:prstGeom prst="star10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de-DE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Ellipse 23">
                <a:extLst>
                  <a:ext uri="{FF2B5EF4-FFF2-40B4-BE49-F238E27FC236}">
                    <a16:creationId xmlns:a16="http://schemas.microsoft.com/office/drawing/2014/main" id="{459A03AA-09DB-A44E-98CB-881AD4DC08C6}"/>
                  </a:ext>
                </a:extLst>
              </p:cNvPr>
              <p:cNvSpPr/>
              <p:nvPr/>
            </p:nvSpPr>
            <p:spPr>
              <a:xfrm>
                <a:off x="5800473" y="5242636"/>
                <a:ext cx="428387" cy="445744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de-DE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5" name="Gruppieren 14">
              <a:extLst>
                <a:ext uri="{FF2B5EF4-FFF2-40B4-BE49-F238E27FC236}">
                  <a16:creationId xmlns:a16="http://schemas.microsoft.com/office/drawing/2014/main" id="{F240D9EA-56DB-DF92-3B4F-D4D5CF59792E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823098" y="3177240"/>
              <a:ext cx="419264" cy="419264"/>
              <a:chOff x="5606452" y="5019764"/>
              <a:chExt cx="816429" cy="891487"/>
            </a:xfrm>
          </p:grpSpPr>
          <p:sp>
            <p:nvSpPr>
              <p:cNvPr id="20" name="Stern: 10 Zacken 249">
                <a:extLst>
                  <a:ext uri="{FF2B5EF4-FFF2-40B4-BE49-F238E27FC236}">
                    <a16:creationId xmlns:a16="http://schemas.microsoft.com/office/drawing/2014/main" id="{608EEA1B-D268-D84B-0355-DEE631F6CD29}"/>
                  </a:ext>
                </a:extLst>
              </p:cNvPr>
              <p:cNvSpPr/>
              <p:nvPr/>
            </p:nvSpPr>
            <p:spPr>
              <a:xfrm>
                <a:off x="5606452" y="5019764"/>
                <a:ext cx="816429" cy="891487"/>
              </a:xfrm>
              <a:prstGeom prst="star10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de-DE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Ellipse 21">
                <a:extLst>
                  <a:ext uri="{FF2B5EF4-FFF2-40B4-BE49-F238E27FC236}">
                    <a16:creationId xmlns:a16="http://schemas.microsoft.com/office/drawing/2014/main" id="{BE4711B7-D317-0022-FA97-5D22FB606876}"/>
                  </a:ext>
                </a:extLst>
              </p:cNvPr>
              <p:cNvSpPr/>
              <p:nvPr/>
            </p:nvSpPr>
            <p:spPr>
              <a:xfrm>
                <a:off x="5800473" y="5242636"/>
                <a:ext cx="428387" cy="445744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de-DE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6" name="Gruppieren 15">
              <a:extLst>
                <a:ext uri="{FF2B5EF4-FFF2-40B4-BE49-F238E27FC236}">
                  <a16:creationId xmlns:a16="http://schemas.microsoft.com/office/drawing/2014/main" id="{17E8B848-D624-7DFC-A854-D98B60118465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448484" y="2886072"/>
              <a:ext cx="317591" cy="317591"/>
              <a:chOff x="5606452" y="5019764"/>
              <a:chExt cx="816429" cy="891487"/>
            </a:xfrm>
          </p:grpSpPr>
          <p:sp>
            <p:nvSpPr>
              <p:cNvPr id="18" name="Stern: 10 Zacken 252">
                <a:extLst>
                  <a:ext uri="{FF2B5EF4-FFF2-40B4-BE49-F238E27FC236}">
                    <a16:creationId xmlns:a16="http://schemas.microsoft.com/office/drawing/2014/main" id="{49760611-A668-0D0B-725B-18FA051C8A79}"/>
                  </a:ext>
                </a:extLst>
              </p:cNvPr>
              <p:cNvSpPr/>
              <p:nvPr/>
            </p:nvSpPr>
            <p:spPr>
              <a:xfrm>
                <a:off x="5606452" y="5019764"/>
                <a:ext cx="816429" cy="891487"/>
              </a:xfrm>
              <a:prstGeom prst="star10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de-DE">
                  <a:solidFill>
                    <a:schemeClr val="tx1"/>
                  </a:solidFill>
                </a:endParaRPr>
              </a:p>
            </p:txBody>
          </p:sp>
          <p:sp>
            <p:nvSpPr>
              <p:cNvPr id="19" name="Ellipse 18">
                <a:extLst>
                  <a:ext uri="{FF2B5EF4-FFF2-40B4-BE49-F238E27FC236}">
                    <a16:creationId xmlns:a16="http://schemas.microsoft.com/office/drawing/2014/main" id="{0DC16DC0-BF8F-2CFC-F840-472220B82A94}"/>
                  </a:ext>
                </a:extLst>
              </p:cNvPr>
              <p:cNvSpPr/>
              <p:nvPr/>
            </p:nvSpPr>
            <p:spPr>
              <a:xfrm>
                <a:off x="5800473" y="5242636"/>
                <a:ext cx="428387" cy="445744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de-DE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50" name="Rechteck 49">
            <a:extLst>
              <a:ext uri="{FF2B5EF4-FFF2-40B4-BE49-F238E27FC236}">
                <a16:creationId xmlns:a16="http://schemas.microsoft.com/office/drawing/2014/main" id="{559DF7E8-AA6E-F99C-1AF0-C813E352E086}"/>
              </a:ext>
            </a:extLst>
          </p:cNvPr>
          <p:cNvSpPr/>
          <p:nvPr/>
        </p:nvSpPr>
        <p:spPr>
          <a:xfrm>
            <a:off x="740530" y="1629135"/>
            <a:ext cx="2659162" cy="34845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Die Sonne scheint.</a:t>
            </a:r>
          </a:p>
        </p:txBody>
      </p:sp>
      <p:cxnSp>
        <p:nvCxnSpPr>
          <p:cNvPr id="6" name="Gewinkelter Verbinder 5"/>
          <p:cNvCxnSpPr>
            <a:stCxn id="50" idx="1"/>
            <a:endCxn id="10" idx="1"/>
          </p:cNvCxnSpPr>
          <p:nvPr/>
        </p:nvCxnSpPr>
        <p:spPr>
          <a:xfrm rot="10800000" flipH="1" flipV="1">
            <a:off x="740529" y="1803363"/>
            <a:ext cx="306045" cy="1085671"/>
          </a:xfrm>
          <a:prstGeom prst="bentConnector3">
            <a:avLst>
              <a:gd name="adj1" fmla="val -74695"/>
            </a:avLst>
          </a:prstGeom>
          <a:ln w="381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Gewinkelter Verbinder 55"/>
          <p:cNvCxnSpPr>
            <a:stCxn id="10" idx="3"/>
            <a:endCxn id="67" idx="0"/>
          </p:cNvCxnSpPr>
          <p:nvPr/>
        </p:nvCxnSpPr>
        <p:spPr>
          <a:xfrm>
            <a:off x="3206575" y="2889035"/>
            <a:ext cx="782632" cy="341708"/>
          </a:xfrm>
          <a:prstGeom prst="bentConnector2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feld 64"/>
          <p:cNvSpPr txBox="1"/>
          <p:nvPr/>
        </p:nvSpPr>
        <p:spPr>
          <a:xfrm>
            <a:off x="907400" y="4772121"/>
            <a:ext cx="28588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hochdimensionaler Vektor (z.B. 384)</a:t>
            </a:r>
          </a:p>
        </p:txBody>
      </p:sp>
      <p:sp>
        <p:nvSpPr>
          <p:cNvPr id="66" name="Textfeld 65"/>
          <p:cNvSpPr txBox="1"/>
          <p:nvPr/>
        </p:nvSpPr>
        <p:spPr>
          <a:xfrm>
            <a:off x="1555060" y="6081998"/>
            <a:ext cx="49237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Embedding</a:t>
            </a:r>
          </a:p>
          <a:p>
            <a:pPr algn="ctr"/>
            <a:r>
              <a:rPr lang="de-DE" dirty="0"/>
              <a:t>(beschreibt die Bedeutung)</a:t>
            </a:r>
          </a:p>
        </p:txBody>
      </p:sp>
      <p:grpSp>
        <p:nvGrpSpPr>
          <p:cNvPr id="75" name="Gruppieren 74"/>
          <p:cNvGrpSpPr/>
          <p:nvPr/>
        </p:nvGrpSpPr>
        <p:grpSpPr>
          <a:xfrm>
            <a:off x="3809207" y="3230743"/>
            <a:ext cx="360000" cy="2846628"/>
            <a:chOff x="5708951" y="2166198"/>
            <a:chExt cx="360000" cy="2846628"/>
          </a:xfrm>
        </p:grpSpPr>
        <p:sp>
          <p:nvSpPr>
            <p:cNvPr id="67" name="Rechteck 66"/>
            <p:cNvSpPr/>
            <p:nvPr/>
          </p:nvSpPr>
          <p:spPr>
            <a:xfrm>
              <a:off x="5708951" y="2166198"/>
              <a:ext cx="360000" cy="36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de-DE" sz="1050" dirty="0">
                  <a:solidFill>
                    <a:schemeClr val="tx1"/>
                  </a:solidFill>
                </a:rPr>
                <a:t>0.32</a:t>
              </a:r>
            </a:p>
          </p:txBody>
        </p:sp>
        <p:sp>
          <p:nvSpPr>
            <p:cNvPr id="68" name="Rechteck 67"/>
            <p:cNvSpPr/>
            <p:nvPr/>
          </p:nvSpPr>
          <p:spPr>
            <a:xfrm>
              <a:off x="5708951" y="2526198"/>
              <a:ext cx="360000" cy="36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de-DE" sz="1050" dirty="0">
                  <a:solidFill>
                    <a:schemeClr val="tx1"/>
                  </a:solidFill>
                </a:rPr>
                <a:t>0.2</a:t>
              </a:r>
            </a:p>
          </p:txBody>
        </p:sp>
        <p:sp>
          <p:nvSpPr>
            <p:cNvPr id="69" name="Rechteck 68"/>
            <p:cNvSpPr/>
            <p:nvPr/>
          </p:nvSpPr>
          <p:spPr>
            <a:xfrm>
              <a:off x="5708951" y="2875074"/>
              <a:ext cx="360000" cy="36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de-DE" sz="1050" dirty="0">
                  <a:solidFill>
                    <a:schemeClr val="tx1"/>
                  </a:solidFill>
                </a:rPr>
                <a:t>0.19</a:t>
              </a:r>
            </a:p>
          </p:txBody>
        </p:sp>
        <p:sp>
          <p:nvSpPr>
            <p:cNvPr id="70" name="Rechteck 69"/>
            <p:cNvSpPr/>
            <p:nvPr/>
          </p:nvSpPr>
          <p:spPr>
            <a:xfrm>
              <a:off x="5708951" y="3235074"/>
              <a:ext cx="360000" cy="36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de-DE" sz="1050" dirty="0">
                  <a:solidFill>
                    <a:schemeClr val="tx1"/>
                  </a:solidFill>
                </a:rPr>
                <a:t>0.16</a:t>
              </a:r>
            </a:p>
          </p:txBody>
        </p:sp>
        <p:sp>
          <p:nvSpPr>
            <p:cNvPr id="71" name="Rechteck 70"/>
            <p:cNvSpPr/>
            <p:nvPr/>
          </p:nvSpPr>
          <p:spPr>
            <a:xfrm>
              <a:off x="5708951" y="3583950"/>
              <a:ext cx="360000" cy="36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de-DE" sz="1050" dirty="0">
                  <a:solidFill>
                    <a:schemeClr val="tx1"/>
                  </a:solidFill>
                </a:rPr>
                <a:t>0.02</a:t>
              </a:r>
            </a:p>
          </p:txBody>
        </p:sp>
        <p:sp>
          <p:nvSpPr>
            <p:cNvPr id="72" name="Rechteck 71"/>
            <p:cNvSpPr/>
            <p:nvPr/>
          </p:nvSpPr>
          <p:spPr>
            <a:xfrm>
              <a:off x="5708951" y="3943950"/>
              <a:ext cx="360000" cy="36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de-DE" sz="1050" dirty="0">
                  <a:solidFill>
                    <a:schemeClr val="tx1"/>
                  </a:solidFill>
                </a:rPr>
                <a:t>0.23</a:t>
              </a:r>
            </a:p>
          </p:txBody>
        </p:sp>
        <p:sp>
          <p:nvSpPr>
            <p:cNvPr id="73" name="Rechteck 72"/>
            <p:cNvSpPr/>
            <p:nvPr/>
          </p:nvSpPr>
          <p:spPr>
            <a:xfrm>
              <a:off x="5708951" y="4292826"/>
              <a:ext cx="360000" cy="36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de-DE" sz="1050" dirty="0">
                  <a:solidFill>
                    <a:schemeClr val="tx1"/>
                  </a:solidFill>
                </a:rPr>
                <a:t>0.3</a:t>
              </a:r>
            </a:p>
          </p:txBody>
        </p:sp>
        <p:sp>
          <p:nvSpPr>
            <p:cNvPr id="74" name="Rechteck 73"/>
            <p:cNvSpPr/>
            <p:nvPr/>
          </p:nvSpPr>
          <p:spPr>
            <a:xfrm>
              <a:off x="5708951" y="4652826"/>
              <a:ext cx="360000" cy="36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de-DE" sz="1050" dirty="0">
                  <a:solidFill>
                    <a:schemeClr val="tx1"/>
                  </a:solidFill>
                </a:rPr>
                <a:t>0.07</a:t>
              </a:r>
            </a:p>
          </p:txBody>
        </p:sp>
      </p:grpSp>
      <p:sp>
        <p:nvSpPr>
          <p:cNvPr id="90" name="Gleichschenkliges Dreieck 89"/>
          <p:cNvSpPr/>
          <p:nvPr/>
        </p:nvSpPr>
        <p:spPr>
          <a:xfrm rot="21002294">
            <a:off x="7109554" y="4613935"/>
            <a:ext cx="953410" cy="814378"/>
          </a:xfrm>
          <a:prstGeom prst="triangl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9" name="Gleichschenkliges Dreieck 78"/>
          <p:cNvSpPr/>
          <p:nvPr/>
        </p:nvSpPr>
        <p:spPr>
          <a:xfrm rot="21002294">
            <a:off x="5667915" y="3896846"/>
            <a:ext cx="953410" cy="814378"/>
          </a:xfrm>
          <a:prstGeom prst="triangl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78" name="Gerade Verbindung mit Pfeil 77"/>
          <p:cNvCxnSpPr/>
          <p:nvPr/>
        </p:nvCxnSpPr>
        <p:spPr>
          <a:xfrm>
            <a:off x="6684577" y="4615455"/>
            <a:ext cx="1440000" cy="720000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Gerade Verbindung mit Pfeil 83"/>
          <p:cNvCxnSpPr/>
          <p:nvPr/>
        </p:nvCxnSpPr>
        <p:spPr>
          <a:xfrm>
            <a:off x="5752443" y="4796363"/>
            <a:ext cx="1440000" cy="720000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6" name="Gruppieren 85"/>
          <p:cNvGrpSpPr/>
          <p:nvPr/>
        </p:nvGrpSpPr>
        <p:grpSpPr>
          <a:xfrm>
            <a:off x="6073932" y="3659354"/>
            <a:ext cx="1440000" cy="956106"/>
            <a:chOff x="6339229" y="3782646"/>
            <a:chExt cx="1080000" cy="956106"/>
          </a:xfrm>
        </p:grpSpPr>
        <p:cxnSp>
          <p:nvCxnSpPr>
            <p:cNvPr id="87" name="Gerade Verbindung mit Pfeil 86"/>
            <p:cNvCxnSpPr/>
            <p:nvPr/>
          </p:nvCxnSpPr>
          <p:spPr>
            <a:xfrm>
              <a:off x="6339229" y="4018752"/>
              <a:ext cx="1080000" cy="720000"/>
            </a:xfrm>
            <a:prstGeom prst="straightConnector1">
              <a:avLst/>
            </a:prstGeom>
            <a:ln>
              <a:solidFill>
                <a:schemeClr val="tx1"/>
              </a:solidFill>
              <a:prstDash val="sysDash"/>
              <a:tailEnd type="triangle" w="med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8" name="Runde Klammer links/rechts 87"/>
            <p:cNvSpPr/>
            <p:nvPr/>
          </p:nvSpPr>
          <p:spPr>
            <a:xfrm>
              <a:off x="6944593" y="3782646"/>
              <a:ext cx="358327" cy="585407"/>
            </a:xfrm>
            <a:prstGeom prst="bracketPair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de-DE" sz="1600" dirty="0"/>
                <a:t>3</a:t>
              </a:r>
            </a:p>
            <a:p>
              <a:pPr algn="ctr"/>
              <a:r>
                <a:rPr lang="de-DE" sz="1600" dirty="0"/>
                <a:t>-2</a:t>
              </a:r>
            </a:p>
          </p:txBody>
        </p:sp>
      </p:grpSp>
      <p:sp>
        <p:nvSpPr>
          <p:cNvPr id="93" name="Textfeld 92"/>
          <p:cNvSpPr txBox="1"/>
          <p:nvPr/>
        </p:nvSpPr>
        <p:spPr>
          <a:xfrm>
            <a:off x="6344939" y="2649856"/>
            <a:ext cx="2281561" cy="543749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r>
              <a:rPr lang="de-DE" sz="1400" dirty="0" err="1"/>
              <a:t>2dimensionaler</a:t>
            </a:r>
            <a:endParaRPr lang="de-DE" sz="1400" dirty="0"/>
          </a:p>
          <a:p>
            <a:pPr algn="ctr"/>
            <a:r>
              <a:rPr lang="de-DE" sz="1400" dirty="0"/>
              <a:t>Vektor</a:t>
            </a:r>
          </a:p>
        </p:txBody>
      </p:sp>
      <p:cxnSp>
        <p:nvCxnSpPr>
          <p:cNvPr id="95" name="Gerader Verbinder 94"/>
          <p:cNvCxnSpPr>
            <a:stCxn id="93" idx="2"/>
            <a:endCxn id="88" idx="0"/>
          </p:cNvCxnSpPr>
          <p:nvPr/>
        </p:nvCxnSpPr>
        <p:spPr>
          <a:xfrm flipH="1">
            <a:off x="7119969" y="3193605"/>
            <a:ext cx="365751" cy="46574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Textfeld 97"/>
          <p:cNvSpPr txBox="1"/>
          <p:nvPr/>
        </p:nvSpPr>
        <p:spPr>
          <a:xfrm>
            <a:off x="740529" y="3349582"/>
            <a:ext cx="27478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Embedding-Modell</a:t>
            </a:r>
          </a:p>
        </p:txBody>
      </p:sp>
    </p:spTree>
    <p:extLst>
      <p:ext uri="{BB962C8B-B14F-4D97-AF65-F5344CB8AC3E}">
        <p14:creationId xmlns:p14="http://schemas.microsoft.com/office/powerpoint/2010/main" val="27993599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" grpId="0" animBg="1"/>
      <p:bldP spid="50" grpId="0" animBg="1"/>
      <p:bldP spid="65" grpId="0"/>
      <p:bldP spid="66" grpId="0"/>
      <p:bldP spid="90" grpId="0" animBg="1"/>
      <p:bldP spid="79" grpId="0" animBg="1"/>
      <p:bldP spid="93" grpId="0"/>
      <p:bldP spid="9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6">
                <a:lumMod val="5000"/>
                <a:lumOff val="95000"/>
              </a:schemeClr>
            </a:gs>
            <a:gs pos="74000">
              <a:schemeClr val="accent6">
                <a:lumMod val="45000"/>
                <a:lumOff val="55000"/>
              </a:schemeClr>
            </a:gs>
            <a:gs pos="83000">
              <a:schemeClr val="accent6">
                <a:lumMod val="45000"/>
                <a:lumOff val="55000"/>
              </a:schemeClr>
            </a:gs>
            <a:gs pos="100000">
              <a:schemeClr val="accent6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1031E19-7B89-1F29-7878-B7D1CB414C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Embeddings</a:t>
            </a:r>
            <a:endParaRPr lang="de-DE" dirty="0"/>
          </a:p>
        </p:txBody>
      </p:sp>
      <p:sp>
        <p:nvSpPr>
          <p:cNvPr id="4" name="Runde Klammer links/rechts 3"/>
          <p:cNvSpPr/>
          <p:nvPr/>
        </p:nvSpPr>
        <p:spPr>
          <a:xfrm>
            <a:off x="1391642" y="3077806"/>
            <a:ext cx="519183" cy="930535"/>
          </a:xfrm>
          <a:prstGeom prst="bracketPair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wrap="none" lIns="0" tIns="0" rIns="0" bIns="0" rtlCol="0" anchor="t" anchorCtr="0"/>
          <a:lstStyle/>
          <a:p>
            <a:pPr algn="ctr"/>
            <a:r>
              <a:rPr lang="de-DE" dirty="0"/>
              <a:t>2</a:t>
            </a:r>
          </a:p>
          <a:p>
            <a:pPr algn="ctr"/>
            <a:r>
              <a:rPr lang="de-DE" dirty="0"/>
              <a:t>1</a:t>
            </a:r>
          </a:p>
          <a:p>
            <a:pPr algn="ctr"/>
            <a:r>
              <a:rPr lang="de-DE" dirty="0"/>
              <a:t>3</a:t>
            </a:r>
          </a:p>
        </p:txBody>
      </p:sp>
      <p:sp>
        <p:nvSpPr>
          <p:cNvPr id="5" name="Runde Klammer links/rechts 4"/>
          <p:cNvSpPr/>
          <p:nvPr/>
        </p:nvSpPr>
        <p:spPr>
          <a:xfrm>
            <a:off x="2474402" y="3077806"/>
            <a:ext cx="519183" cy="930536"/>
          </a:xfrm>
          <a:prstGeom prst="bracketPair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wrap="none" lIns="0" tIns="0" rIns="0" bIns="0" rtlCol="0" anchor="t" anchorCtr="0"/>
          <a:lstStyle/>
          <a:p>
            <a:pPr algn="ctr"/>
            <a:r>
              <a:rPr lang="de-DE" dirty="0"/>
              <a:t>0</a:t>
            </a:r>
          </a:p>
          <a:p>
            <a:pPr algn="ctr"/>
            <a:r>
              <a:rPr lang="de-DE" dirty="0"/>
              <a:t>4</a:t>
            </a:r>
          </a:p>
          <a:p>
            <a:pPr algn="ctr"/>
            <a:r>
              <a:rPr lang="de-DE" dirty="0"/>
              <a:t>1</a:t>
            </a:r>
          </a:p>
        </p:txBody>
      </p:sp>
      <p:sp>
        <p:nvSpPr>
          <p:cNvPr id="7" name="Textfeld 6"/>
          <p:cNvSpPr txBox="1"/>
          <p:nvPr/>
        </p:nvSpPr>
        <p:spPr>
          <a:xfrm>
            <a:off x="3647889" y="3016732"/>
            <a:ext cx="10630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  0 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∙</a:t>
            </a:r>
            <a:r>
              <a:rPr lang="de-DE" dirty="0"/>
              <a:t> 2</a:t>
            </a:r>
          </a:p>
        </p:txBody>
      </p:sp>
      <p:sp>
        <p:nvSpPr>
          <p:cNvPr id="8" name="Textfeld 7"/>
          <p:cNvSpPr txBox="1"/>
          <p:nvPr/>
        </p:nvSpPr>
        <p:spPr>
          <a:xfrm>
            <a:off x="5684880" y="3098407"/>
            <a:ext cx="7117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  0</a:t>
            </a:r>
          </a:p>
          <a:p>
            <a:pPr algn="ctr"/>
            <a:r>
              <a:rPr lang="de-DE" dirty="0"/>
              <a:t>+ 4</a:t>
            </a:r>
          </a:p>
          <a:p>
            <a:pPr algn="ctr"/>
            <a:r>
              <a:rPr lang="de-DE" dirty="0"/>
              <a:t>+ 3</a:t>
            </a:r>
          </a:p>
        </p:txBody>
      </p:sp>
      <p:sp>
        <p:nvSpPr>
          <p:cNvPr id="9" name="Textfeld 8"/>
          <p:cNvSpPr txBox="1"/>
          <p:nvPr/>
        </p:nvSpPr>
        <p:spPr>
          <a:xfrm>
            <a:off x="7033882" y="3132440"/>
            <a:ext cx="76032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de-DE" dirty="0"/>
          </a:p>
          <a:p>
            <a:pPr algn="ctr"/>
            <a:r>
              <a:rPr lang="de-DE" dirty="0"/>
              <a:t>7</a:t>
            </a:r>
          </a:p>
          <a:p>
            <a:pPr algn="ctr"/>
            <a:endParaRPr lang="de-DE" dirty="0"/>
          </a:p>
        </p:txBody>
      </p:sp>
      <p:sp>
        <p:nvSpPr>
          <p:cNvPr id="10" name="Textfeld 9"/>
          <p:cNvSpPr txBox="1"/>
          <p:nvPr/>
        </p:nvSpPr>
        <p:spPr>
          <a:xfrm>
            <a:off x="628650" y="1690689"/>
            <a:ext cx="80531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/>
              <a:t>- Berechnung der Übereinstimmung:</a:t>
            </a:r>
          </a:p>
        </p:txBody>
      </p:sp>
      <p:sp>
        <p:nvSpPr>
          <p:cNvPr id="11" name="Textfeld 10"/>
          <p:cNvSpPr txBox="1"/>
          <p:nvPr/>
        </p:nvSpPr>
        <p:spPr>
          <a:xfrm>
            <a:off x="628650" y="2287432"/>
            <a:ext cx="78867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/>
              <a:t>  mit dem </a:t>
            </a:r>
            <a:r>
              <a:rPr lang="de-DE" sz="2800" b="1" dirty="0"/>
              <a:t>Skalarprodukt</a:t>
            </a:r>
            <a:r>
              <a:rPr lang="de-DE" sz="2800" dirty="0"/>
              <a:t>:</a:t>
            </a:r>
          </a:p>
        </p:txBody>
      </p:sp>
      <p:sp>
        <p:nvSpPr>
          <p:cNvPr id="12" name="Textfeld 11"/>
          <p:cNvSpPr txBox="1"/>
          <p:nvPr/>
        </p:nvSpPr>
        <p:spPr>
          <a:xfrm>
            <a:off x="1092244" y="4904084"/>
            <a:ext cx="69595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 err="1"/>
              <a:t>V1</a:t>
            </a:r>
            <a:r>
              <a:rPr lang="de-DE" sz="2800" dirty="0"/>
              <a:t> </a:t>
            </a:r>
            <a:r>
              <a:rPr lang="de-DE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◦  </a:t>
            </a:r>
            <a:r>
              <a:rPr lang="de-DE" sz="2800" dirty="0" err="1"/>
              <a:t>V2</a:t>
            </a:r>
            <a:r>
              <a:rPr lang="de-DE" sz="2800" dirty="0"/>
              <a:t> = |</a:t>
            </a:r>
            <a:r>
              <a:rPr lang="de-DE" sz="2800" dirty="0" err="1"/>
              <a:t>V1</a:t>
            </a:r>
            <a:r>
              <a:rPr lang="de-DE" sz="2800" dirty="0"/>
              <a:t>| </a:t>
            </a:r>
            <a:r>
              <a:rPr lang="de-DE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∙  </a:t>
            </a:r>
            <a:r>
              <a:rPr lang="de-DE" sz="2800" dirty="0"/>
              <a:t>|</a:t>
            </a:r>
            <a:r>
              <a:rPr lang="de-DE" sz="2800" dirty="0" err="1"/>
              <a:t>V2</a:t>
            </a:r>
            <a:r>
              <a:rPr lang="de-DE" sz="2800" dirty="0"/>
              <a:t>| </a:t>
            </a:r>
            <a:r>
              <a:rPr lang="de-DE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∙  cos(</a:t>
            </a:r>
            <a:r>
              <a:rPr lang="el-G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φ</a:t>
            </a:r>
            <a:r>
              <a:rPr lang="de-DE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de-DE" sz="2800" dirty="0"/>
          </a:p>
        </p:txBody>
      </p:sp>
      <p:sp>
        <p:nvSpPr>
          <p:cNvPr id="14" name="Textfeld 13"/>
          <p:cNvSpPr txBox="1"/>
          <p:nvPr/>
        </p:nvSpPr>
        <p:spPr>
          <a:xfrm>
            <a:off x="1944502" y="3289532"/>
            <a:ext cx="5104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◦</a:t>
            </a:r>
            <a:endParaRPr lang="de-DE" sz="2800" dirty="0"/>
          </a:p>
        </p:txBody>
      </p:sp>
      <p:sp>
        <p:nvSpPr>
          <p:cNvPr id="15" name="Textfeld 14"/>
          <p:cNvSpPr txBox="1"/>
          <p:nvPr/>
        </p:nvSpPr>
        <p:spPr>
          <a:xfrm>
            <a:off x="3226467" y="3277862"/>
            <a:ext cx="5104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endParaRPr lang="de-DE" sz="2800" dirty="0"/>
          </a:p>
        </p:txBody>
      </p:sp>
      <p:sp>
        <p:nvSpPr>
          <p:cNvPr id="16" name="Textfeld 15"/>
          <p:cNvSpPr txBox="1"/>
          <p:nvPr/>
        </p:nvSpPr>
        <p:spPr>
          <a:xfrm>
            <a:off x="5047678" y="3289532"/>
            <a:ext cx="5104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endParaRPr lang="de-DE" sz="2800" dirty="0"/>
          </a:p>
        </p:txBody>
      </p:sp>
      <p:sp>
        <p:nvSpPr>
          <p:cNvPr id="17" name="Textfeld 16"/>
          <p:cNvSpPr txBox="1"/>
          <p:nvPr/>
        </p:nvSpPr>
        <p:spPr>
          <a:xfrm>
            <a:off x="6650107" y="3277862"/>
            <a:ext cx="5104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endParaRPr lang="de-DE" sz="2800" dirty="0"/>
          </a:p>
        </p:txBody>
      </p:sp>
      <p:sp>
        <p:nvSpPr>
          <p:cNvPr id="18" name="Textfeld 17"/>
          <p:cNvSpPr txBox="1"/>
          <p:nvPr/>
        </p:nvSpPr>
        <p:spPr>
          <a:xfrm>
            <a:off x="628650" y="4325408"/>
            <a:ext cx="80531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/>
              <a:t>- Bedeutung des Skalarprodukts:</a:t>
            </a:r>
          </a:p>
        </p:txBody>
      </p:sp>
      <p:cxnSp>
        <p:nvCxnSpPr>
          <p:cNvPr id="21" name="Gerade Verbindung mit Pfeil 20"/>
          <p:cNvCxnSpPr/>
          <p:nvPr/>
        </p:nvCxnSpPr>
        <p:spPr>
          <a:xfrm flipH="1" flipV="1">
            <a:off x="3617407" y="5384600"/>
            <a:ext cx="48631" cy="578674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feld 22"/>
          <p:cNvSpPr txBox="1"/>
          <p:nvPr/>
        </p:nvSpPr>
        <p:spPr>
          <a:xfrm>
            <a:off x="2746983" y="5963274"/>
            <a:ext cx="23776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000" dirty="0">
                <a:solidFill>
                  <a:srgbClr val="FF0000"/>
                </a:solidFill>
              </a:rPr>
              <a:t>Vektor-Längen</a:t>
            </a:r>
          </a:p>
        </p:txBody>
      </p:sp>
      <p:cxnSp>
        <p:nvCxnSpPr>
          <p:cNvPr id="25" name="Gerade Verbindung mit Pfeil 24"/>
          <p:cNvCxnSpPr/>
          <p:nvPr/>
        </p:nvCxnSpPr>
        <p:spPr>
          <a:xfrm flipV="1">
            <a:off x="4048644" y="5427304"/>
            <a:ext cx="764516" cy="555812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feld 27"/>
          <p:cNvSpPr txBox="1"/>
          <p:nvPr/>
        </p:nvSpPr>
        <p:spPr>
          <a:xfrm>
            <a:off x="3649271" y="3354806"/>
            <a:ext cx="10630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+ 1 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∙</a:t>
            </a:r>
            <a:r>
              <a:rPr lang="de-DE" dirty="0"/>
              <a:t> 4</a:t>
            </a:r>
          </a:p>
        </p:txBody>
      </p:sp>
      <p:sp>
        <p:nvSpPr>
          <p:cNvPr id="29" name="Textfeld 28"/>
          <p:cNvSpPr txBox="1"/>
          <p:nvPr/>
        </p:nvSpPr>
        <p:spPr>
          <a:xfrm>
            <a:off x="3666038" y="3694780"/>
            <a:ext cx="10630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+ 3 </a:t>
            </a: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∙</a:t>
            </a:r>
            <a:r>
              <a:rPr lang="de-DE" dirty="0"/>
              <a:t> 1</a:t>
            </a:r>
          </a:p>
        </p:txBody>
      </p:sp>
      <p:cxnSp>
        <p:nvCxnSpPr>
          <p:cNvPr id="30" name="Gerade Verbindung mit Pfeil 29"/>
          <p:cNvCxnSpPr/>
          <p:nvPr/>
        </p:nvCxnSpPr>
        <p:spPr>
          <a:xfrm flipH="1" flipV="1">
            <a:off x="6521051" y="5384598"/>
            <a:ext cx="129056" cy="383156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feld 32"/>
          <p:cNvSpPr txBox="1"/>
          <p:nvPr/>
        </p:nvSpPr>
        <p:spPr>
          <a:xfrm>
            <a:off x="5592602" y="5767754"/>
            <a:ext cx="26254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000" dirty="0">
                <a:solidFill>
                  <a:srgbClr val="FF0000"/>
                </a:solidFill>
              </a:rPr>
              <a:t>Winkel zwischen den Vektoren</a:t>
            </a:r>
          </a:p>
        </p:txBody>
      </p:sp>
    </p:spTree>
    <p:extLst>
      <p:ext uri="{BB962C8B-B14F-4D97-AF65-F5344CB8AC3E}">
        <p14:creationId xmlns:p14="http://schemas.microsoft.com/office/powerpoint/2010/main" val="14745003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/>
      <p:bldP spid="8" grpId="0"/>
      <p:bldP spid="9" grpId="0"/>
      <p:bldP spid="10" grpId="0"/>
      <p:bldP spid="11" grpId="0"/>
      <p:bldP spid="12" grpId="0"/>
      <p:bldP spid="14" grpId="0"/>
      <p:bldP spid="15" grpId="0"/>
      <p:bldP spid="16" grpId="0"/>
      <p:bldP spid="17" grpId="0"/>
      <p:bldP spid="18" grpId="0"/>
      <p:bldP spid="23" grpId="0"/>
      <p:bldP spid="28" grpId="0"/>
      <p:bldP spid="29" grpId="0"/>
      <p:bldP spid="33" grpId="0"/>
    </p:bldLst>
  </p:timing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10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1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1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1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docMetadata/LabelInfo.xml><?xml version="1.0" encoding="utf-8"?>
<clbl:labelList xmlns:clbl="http://schemas.microsoft.com/office/2020/mipLabelMetadata">
  <clbl:label id="{f0fccd68-e70c-4ca9-a5f3-578bd11b7b2a}" enabled="1" method="Standard" siteId="{9ed03616-b286-4785-a82d-495ca5dfdbf6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495</Words>
  <Application>Microsoft Office PowerPoint</Application>
  <PresentationFormat>Bildschirmpräsentation (4:3)</PresentationFormat>
  <Paragraphs>204</Paragraphs>
  <Slides>14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14</vt:i4>
      </vt:variant>
    </vt:vector>
  </HeadingPairs>
  <TitlesOfParts>
    <vt:vector size="20" baseType="lpstr">
      <vt:lpstr>Aptos</vt:lpstr>
      <vt:lpstr>Aptos Display</vt:lpstr>
      <vt:lpstr>Arial</vt:lpstr>
      <vt:lpstr>Courier New</vt:lpstr>
      <vt:lpstr>Times New Roman</vt:lpstr>
      <vt:lpstr>Office</vt:lpstr>
      <vt:lpstr>Was sind Embeddings?</vt:lpstr>
      <vt:lpstr>Was ist ein Vektor?</vt:lpstr>
      <vt:lpstr>Embeddings berechnen</vt:lpstr>
      <vt:lpstr>Embeddings anwenden</vt:lpstr>
      <vt:lpstr>Das Skalarprodukt</vt:lpstr>
      <vt:lpstr>Das Skalarprodukt</vt:lpstr>
      <vt:lpstr>Embeddings</vt:lpstr>
      <vt:lpstr>RAG</vt:lpstr>
      <vt:lpstr>RAG - Architektur</vt:lpstr>
      <vt:lpstr>ENDE</vt:lpstr>
      <vt:lpstr>Embeddings</vt:lpstr>
      <vt:lpstr>Embeddings</vt:lpstr>
      <vt:lpstr>Embeddings</vt:lpstr>
      <vt:lpstr>Embeddings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 - Sprachmodelle</dc:title>
  <dc:creator>Andreas Bauer</dc:creator>
  <cp:lastModifiedBy>Andreas Bauer</cp:lastModifiedBy>
  <cp:revision>350</cp:revision>
  <dcterms:created xsi:type="dcterms:W3CDTF">2025-07-05T09:42:04Z</dcterms:created>
  <dcterms:modified xsi:type="dcterms:W3CDTF">2025-11-29T14:48:24Z</dcterms:modified>
</cp:coreProperties>
</file>